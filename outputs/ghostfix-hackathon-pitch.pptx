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87d567fe3544d0" /><Relationship Type="http://schemas.openxmlformats.org/officeDocument/2006/relationships/extended-properties" Target="/docProps/app.xml" Id="Rc3a544d6969b45d7" /><Relationship Type="http://schemas.openxmlformats.org/officeDocument/2006/relationships/officeDocument" Target="/ppt/presentation.xml" Id="R60acfffe715b41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ada0abc2f134190"/>
  </p:sldMasterIdLst>
  <p:notesMasterIdLst>
    <p:notesMasterId xmlns:r="http://schemas.openxmlformats.org/officeDocument/2006/relationships" r:id="R7508b59fd91e4770"/>
  </p:notesMasterIdLst>
  <p:sldIdLst>
    <p:sldId xmlns:r="http://schemas.openxmlformats.org/officeDocument/2006/relationships" id="256" r:id="R8929524445164e11"/>
    <p:sldId xmlns:r="http://schemas.openxmlformats.org/officeDocument/2006/relationships" id="257" r:id="R0fc5c5d2838d43f5"/>
    <p:sldId xmlns:r="http://schemas.openxmlformats.org/officeDocument/2006/relationships" id="258" r:id="Rc7d7f579cf0e4511"/>
    <p:sldId xmlns:r="http://schemas.openxmlformats.org/officeDocument/2006/relationships" id="259" r:id="R916101bb84f244a1"/>
    <p:sldId xmlns:r="http://schemas.openxmlformats.org/officeDocument/2006/relationships" id="260" r:id="Rc2edddd5378f43ef"/>
    <p:sldId xmlns:r="http://schemas.openxmlformats.org/officeDocument/2006/relationships" id="261" r:id="R005866ddcd4240ec"/>
    <p:sldId xmlns:r="http://schemas.openxmlformats.org/officeDocument/2006/relationships" id="262" r:id="R69942345ad9b4738"/>
    <p:sldId xmlns:r="http://schemas.openxmlformats.org/officeDocument/2006/relationships" id="263" r:id="Rf4aa5d54ad5e477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f19307dd3f46b5" /><Relationship Type="http://schemas.openxmlformats.org/officeDocument/2006/relationships/slideMaster" Target="/ppt/slideMasters/slideMaster1.xml" Id="Rfada0abc2f134190" /><Relationship Type="http://schemas.openxmlformats.org/officeDocument/2006/relationships/notesMaster" Target="/ppt/notesMasters/notesMaster1.xml" Id="R7508b59fd91e4770" /><Relationship Type="http://schemas.openxmlformats.org/officeDocument/2006/relationships/presProps" Target="/ppt/presProps.xml" Id="R2bec9a830c0b4fd0" /><Relationship Type="http://schemas.openxmlformats.org/officeDocument/2006/relationships/tableStyles" Target="/ppt/tableStyles.xml" Id="R0ffab21d6a184c69" /><Relationship Type="http://schemas.openxmlformats.org/officeDocument/2006/relationships/slide" Target="/ppt/slides/slide1.xml" Id="R8929524445164e11" /><Relationship Type="http://schemas.openxmlformats.org/officeDocument/2006/relationships/slide" Target="/ppt/slides/slide2.xml" Id="R0fc5c5d2838d43f5" /><Relationship Type="http://schemas.openxmlformats.org/officeDocument/2006/relationships/slide" Target="/ppt/slides/slide3.xml" Id="Rc7d7f579cf0e4511" /><Relationship Type="http://schemas.openxmlformats.org/officeDocument/2006/relationships/slide" Target="/ppt/slides/slide4.xml" Id="R916101bb84f244a1" /><Relationship Type="http://schemas.openxmlformats.org/officeDocument/2006/relationships/slide" Target="/ppt/slides/slide5.xml" Id="Rc2edddd5378f43ef" /><Relationship Type="http://schemas.openxmlformats.org/officeDocument/2006/relationships/slide" Target="/ppt/slides/slide6.xml" Id="R005866ddcd4240ec" /><Relationship Type="http://schemas.openxmlformats.org/officeDocument/2006/relationships/slide" Target="/ppt/slides/slide7.xml" Id="R69942345ad9b4738" /><Relationship Type="http://schemas.openxmlformats.org/officeDocument/2006/relationships/slide" Target="/ppt/slides/slide8.xml" Id="Rf4aa5d54ad5e47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75c654d96648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d8498b34f84316" /><Relationship Type="http://schemas.openxmlformats.org/officeDocument/2006/relationships/notesMaster" Target="/ppt/notesMasters/notesMaster1.xml" Id="R245cbb31e89e4f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a47dfe2ffa240f0" /><Relationship Type="http://schemas.openxmlformats.org/officeDocument/2006/relationships/notesMaster" Target="/ppt/notesMasters/notesMaster1.xml" Id="R6d5d198b2d2e444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3fb8ff5b9f4311" /><Relationship Type="http://schemas.openxmlformats.org/officeDocument/2006/relationships/notesMaster" Target="/ppt/notesMasters/notesMaster1.xml" Id="R6b14736e341e48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5734f665744300" /><Relationship Type="http://schemas.openxmlformats.org/officeDocument/2006/relationships/notesMaster" Target="/ppt/notesMasters/notesMaster1.xml" Id="R6ec63098d15a4b8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c59b98746a44eae" /><Relationship Type="http://schemas.openxmlformats.org/officeDocument/2006/relationships/notesMaster" Target="/ppt/notesMasters/notesMaster1.xml" Id="R92d9780e51404b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f82809909c4fb5" /><Relationship Type="http://schemas.openxmlformats.org/officeDocument/2006/relationships/notesMaster" Target="/ppt/notesMasters/notesMaster1.xml" Id="Rf52accb324ce43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4e254902ea145aa" /><Relationship Type="http://schemas.openxmlformats.org/officeDocument/2006/relationships/notesMaster" Target="/ppt/notesMasters/notesMaster1.xml" Id="Rfacb70d6387645b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531abfeef94a49" /><Relationship Type="http://schemas.openxmlformats.org/officeDocument/2006/relationships/notesMaster" Target="/ppt/notesMasters/notesMaster1.xml" Id="R369b199c502f49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a8aa0824a44a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ad977cb1f1443c" /><Relationship Type="http://schemas.openxmlformats.org/officeDocument/2006/relationships/slideLayout" Target="/ppt/slideLayouts/slideLayout1.xml" Id="Rafcf1bc7346c46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cf1bc7346c46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50df38dc064f21" /><Relationship Type="http://schemas.openxmlformats.org/officeDocument/2006/relationships/notesSlide" Target="/ppt/notesSlides/notesSlide1.xml" Id="R0263f6e19c094b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ad61807f945b1" /><Relationship Type="http://schemas.openxmlformats.org/officeDocument/2006/relationships/notesSlide" Target="/ppt/notesSlides/notesSlide2.xml" Id="R6e3403f7571f48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ad944d70554203" /><Relationship Type="http://schemas.openxmlformats.org/officeDocument/2006/relationships/notesSlide" Target="/ppt/notesSlides/notesSlide3.xml" Id="Rfb01a537058246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2d1d05a5874dea" /><Relationship Type="http://schemas.openxmlformats.org/officeDocument/2006/relationships/notesSlide" Target="/ppt/notesSlides/notesSlide4.xml" Id="Rc6d62b78f41f4c4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af849505984b6e" /><Relationship Type="http://schemas.openxmlformats.org/officeDocument/2006/relationships/notesSlide" Target="/ppt/notesSlides/notesSlide5.xml" Id="Ra0df3593cb5941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49a6322d9448b" /><Relationship Type="http://schemas.openxmlformats.org/officeDocument/2006/relationships/notesSlide" Target="/ppt/notesSlides/notesSlide6.xml" Id="R1211cbf60d7140f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e79c5084a486a" /><Relationship Type="http://schemas.openxmlformats.org/officeDocument/2006/relationships/notesSlide" Target="/ppt/notesSlides/notesSlide7.xml" Id="Rf184bc7a24a24ab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be498ca0047f8" /><Relationship Type="http://schemas.openxmlformats.org/officeDocument/2006/relationships/notesSlide" Target="/ppt/notesSlides/notesSlide8.xml" Id="R13e045df1a2741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1DB711-CC7E-4693-8164-00D82B15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F75963-398F-47FE-BB06-C99154A2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6858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11111"/>
                </a:solidFill>
              </a:defRPr>
            </a:pPr>
            <a:r>
              <a:rPr sz="465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E7086C-24E8-42A1-AAEE-BA6216F86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6191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3D3D3D"/>
                </a:solidFill>
              </a:defRPr>
            </a:pPr>
            <a:r>
              <a:rPr sz="1950" b="0">
                <a:solidFill>
                  <a:srgbClr val="3D3D3D"/>
                </a:solidFill>
              </a:rPr>
              <a:t>AI visibility diagnosis and repair for brands losing citations to competitors.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A6B334-E804-4918-A4A9-C056CE738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AF91AE-E092-4040-A93C-13B71A509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337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HACKATHON PITCH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A120B4-A092-4F62-841F-C2EAEF43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257300"/>
            <a:ext cx="3676650" cy="3733800"/>
          </a:xfrm>
          <a:prstGeom xmlns:a="http://schemas.openxmlformats.org/drawingml/2006/main" prst="roundRect">
            <a:avLst>
              <a:gd name="adj" fmla="val 41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B5B29-6B61-4DC0-A002-F452AABC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485900"/>
            <a:ext cx="32194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34A80A-0CC9-43E9-8C4A-9E3996845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A8CB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40BD30-0302-45FB-9CB2-3DECF296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D0E3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17DDEB-FCE3-4D60-986C-80B34DB39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4782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8F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6D385-0F9B-4845-9E53-D6CB24AD0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00200"/>
            <a:ext cx="2019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EEEE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50D006-BCEB-4737-BBDD-4B0D0710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5735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7A7A"/>
                </a:solidFill>
              </a:defRPr>
            </a:pPr>
            <a:r>
              <a:rPr sz="825" b="0">
                <a:solidFill>
                  <a:srgbClr val="7A7A7A"/>
                </a:solidFill>
              </a:rPr>
              <a:t>ghostfix.app/analyze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D01C6-CF3B-4B99-A630-06CB4D3B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266950"/>
            <a:ext cx="1047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BF27F3-6501-440F-9448-B5D9F1D5C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14575"/>
            <a:ext cx="1047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RESEARCH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3802A8-8FD4-4A1B-BF81-B0A4131F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19400"/>
            <a:ext cx="238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A7A7A"/>
                </a:solidFill>
              </a:defRPr>
            </a:pPr>
            <a:r>
              <a:rPr sz="1350" b="1">
                <a:solidFill>
                  <a:srgbClr val="7A7A7A"/>
                </a:solidFill>
              </a:rPr>
              <a:t>AI visibility score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21FADF-879C-44AB-B4C8-43F8FB0D1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1104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EA0ADA-3BBF-465B-8751-6C38CDA5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7A7A7A"/>
                </a:solidFill>
              </a:defRPr>
            </a:pPr>
            <a:r>
              <a:rPr sz="1725" b="1">
                <a:solidFill>
                  <a:srgbClr val="7A7A7A"/>
                </a:solidFill>
              </a:rPr>
              <a:t>/100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672D1-4048-4C9D-AB0C-FA2B261C2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62400"/>
            <a:ext cx="27813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89828-855A-4E66-BC2B-DC1FB71D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1480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3D3D3D"/>
                </a:solidFill>
              </a:defRPr>
            </a:pPr>
            <a:r>
              <a:rPr sz="1125" b="0">
                <a:solidFill>
                  <a:srgbClr val="3D3D3D"/>
                </a:solidFill>
              </a:rPr>
              <a:t>vs. competitor citations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AC25D3-2D98-4D36-9715-A5EB9555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0263648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9947CF-7665-439B-A642-0DED1AF8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2DE639-D710-47F9-A43A-F42DB07F3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9A204-75D2-4D5E-8E27-DF7AFD93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Search behavior changed. Tooling did not.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B9BC6D-0069-48E9-97D0-D8CD7498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Companies optimized content for search links. Buyers now ask AI assistants for answers.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5F7DC-B15F-4A1F-9816-8AAAF940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28F55-7144-4779-B5A6-184C745F4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304800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40E55-B11A-4CC8-BE90-8C9B9B78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623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Before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9BE4BB-9760-4B04-AFE2-AC6275F7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76650"/>
            <a:ext cx="228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Rank pages.</a:t>
            </a:r>
          </a:p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Win clicks.</a:t>
            </a:r>
          </a:p>
          <a:p xmlns:a="http://schemas.openxmlformats.org/drawingml/2006/main">
            <a:pPr algn="l">
              <a:defRPr sz="1875" b="0">
                <a:solidFill>
                  <a:srgbClr val="3D3D3D"/>
                </a:solidFill>
              </a:defRPr>
            </a:pPr>
            <a:r>
              <a:rPr sz="1875" b="0">
                <a:solidFill>
                  <a:srgbClr val="3D3D3D"/>
                </a:solidFill>
              </a:rPr>
              <a:t>Optimize snippets.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BE5136-2BD0-4927-B34B-7320922D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781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DA1EF-F6CE-42BD-B789-0ED5FC6D2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37814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28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24325" y="3790950"/>
            <a:ext cx="933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10CD38-8367-429A-B886-F65F75F18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71750"/>
            <a:ext cx="3486150" cy="24384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022058-C1EA-488F-A009-FA14E911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76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Now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B10F5C-41CD-482C-A4CF-B248FEDD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3147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Users ask AI: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07B776-9EEB-4652-BCFE-0DFEEBC45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752850"/>
            <a:ext cx="27813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“Best CRM for startups”</a:t>
            </a:r>
          </a:p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“Compare analytics tools”</a:t>
            </a:r>
          </a:p>
          <a:p xmlns:a="http://schemas.openxmlformats.org/drawingml/2006/main">
            <a:pPr algn="l">
              <a:defRPr sz="1725" b="0">
                <a:solidFill>
                  <a:srgbClr val="3D3D3D"/>
                </a:solidFill>
              </a:defRPr>
            </a:pPr>
            <a:r>
              <a:rPr sz="1725" b="0">
                <a:solidFill>
                  <a:srgbClr val="3D3D3D"/>
                </a:solidFill>
              </a:rPr>
              <a:t>“What email API should I use?”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0AB295-F885-45CE-BE47-A3FBE6EB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76550"/>
            <a:ext cx="1905000" cy="18288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5B6069-F2D3-4D8A-9B39-881A8710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95650"/>
            <a:ext cx="13906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AI selects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who gets</a:t>
            </a:r>
          </a:p>
          <a:p xmlns:a="http://schemas.openxmlformats.org/drawingml/2006/main">
            <a:pPr algn="l">
              <a:defRPr sz="2325" b="1">
                <a:solidFill>
                  <a:srgbClr val="FFFFFF"/>
                </a:solidFill>
              </a:defRPr>
            </a:pPr>
            <a:r>
              <a:rPr sz="2325" b="1">
                <a:solidFill>
                  <a:srgbClr val="FFFFFF"/>
                </a:solidFill>
              </a:rPr>
              <a:t>cited.</a:t>
            </a:r>
          </a:p>
        </p:txBody>
      </p:sp>
    </p:spTree>
    <p:extLst>
      <p:ext uri="{BB962C8B-B14F-4D97-AF65-F5344CB8AC3E}">
        <p14:creationId xmlns:p14="http://schemas.microsoft.com/office/powerpoint/2010/main" val="14746499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46D062-2741-4416-A081-890D8E30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C45013-B9A1-4A15-A13B-197A3290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WHY NOW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00CD8-4A6A-4EE9-8292-B5364831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Losing the answer means losing the buyer.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ED382F-13E8-42C5-A601-A9D755FD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AI systems generate answers and cite selected sources. Brands outside the answer lose the moment of discovery.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BA13F-025A-4CB0-ACD8-8349D9C5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0B1976-D187-44C5-B3E8-57A62A88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527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42555B-CBAD-41AC-8751-19A377FE2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623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Reduced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7543F7-F93D-44A6-B7E1-AFA7FCDC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Fewer buyers ever reach the site.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E6F73F-B53A-431A-AF87-A341CB06F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527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E4BE06-66F5-44E5-8094-8B0183882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623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Declining inbound traffic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F85DA1-7873-4151-BF8A-F57C623D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052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Traditional SEO visibility no longer maps to AI answers.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4B5521-A206-44F9-9808-959DA9B4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490AAA-A6ED-4959-982B-7B7C9FD22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33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Lower conversion opportunities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2E7732-9B6A-4862-874C-1BBDCFD6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Competitors frame the shortlist before the user clicks.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75A7FA-C84D-4CA6-B37C-F83B29D83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24350"/>
            <a:ext cx="4762500" cy="9906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5CACB3-C59C-45CF-B492-5B1F748A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533900"/>
            <a:ext cx="3810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No explanation layer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29BC5-BC96-4E06-815B-4B2107B4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768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7A7A7A"/>
                </a:solidFill>
              </a:defRPr>
            </a:pPr>
            <a:r>
              <a:rPr sz="1200" b="0">
                <a:solidFill>
                  <a:srgbClr val="7A7A7A"/>
                </a:solidFill>
              </a:rPr>
              <a:t>Teams cannot see why rivals are referenced instead.</a:t>
            </a:r>
          </a:p>
        </p:txBody>
      </p:sp>
    </p:spTree>
    <p:extLst>
      <p:ext uri="{BB962C8B-B14F-4D97-AF65-F5344CB8AC3E}">
        <p14:creationId xmlns:p14="http://schemas.microsoft.com/office/powerpoint/2010/main" val="12145404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56C7162-5013-4052-A7B6-0E388F4C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CCAD25-4F6C-4494-98A2-C774C2D69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SOLUTION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76164-2A28-4DAE-B2EE-262EABB5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GhostFix explains why competitors win AI citations.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2ADBA-A0E7-47A6-BACA-F6B996D1C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Then it turns the diagnosis into fixes teams can review, approve, and deploy.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91E791-100E-49B8-965A-2FD36079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8B1A5C-3041-43AD-AA30-25C0B48CD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9149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44EEBD-A6B5-4361-B277-450F1B4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86100"/>
            <a:ext cx="106680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F0F24-920C-47B8-A128-4E9559AC9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3372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DIAGNOSIS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4C0C1A-0413-44FC-BF59-03CF8B6B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004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11111"/>
                </a:solidFill>
              </a:defRPr>
            </a:pPr>
            <a:r>
              <a:rPr sz="2025" b="1">
                <a:solidFill>
                  <a:srgbClr val="111111"/>
                </a:solidFill>
              </a:rPr>
              <a:t>Compares your site against the rival AI recommends.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35F4FE-74D1-4AE3-A976-D611C33FE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3848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A7A7A"/>
                </a:solidFill>
              </a:defRPr>
            </a:pPr>
            <a:r>
              <a:rPr sz="1275" b="0">
                <a:solidFill>
                  <a:srgbClr val="7A7A7A"/>
                </a:solidFill>
              </a:rPr>
              <a:t>Finds citation gaps across answer share, content coverage, structured data, evidence density, freshness, and trust.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3D2E4-2809-4967-9C02-D25A7307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781300"/>
            <a:ext cx="4914900" cy="24765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50C43-2E7A-44B0-8F51-95137A97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6100"/>
            <a:ext cx="8191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D9DFAF-E2FD-45D2-8DEB-19DE65B2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133725"/>
            <a:ext cx="819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111"/>
                </a:solidFill>
              </a:defRPr>
            </a:pPr>
            <a:r>
              <a:rPr sz="975" b="1">
                <a:solidFill>
                  <a:srgbClr val="111111"/>
                </a:solidFill>
              </a:rPr>
              <a:t>REPAIR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60FA1-CC13-47E3-AE5D-26248E6F1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00450"/>
            <a:ext cx="390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Generates content and schema drafts ready for human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7A5E50-A6D5-42E8-9ACD-90287D46B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00550"/>
            <a:ext cx="3657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9D0E3"/>
                </a:solidFill>
              </a:defRPr>
            </a:pPr>
            <a:r>
              <a:rPr sz="1275" b="0">
                <a:solidFill>
                  <a:srgbClr val="F9D0E3"/>
                </a:solidFill>
              </a:rPr>
              <a:t>FAQ, comparison page, JSON-LD, and PR-ready deployment artifacts.</a:t>
            </a:r>
          </a:p>
        </p:txBody>
      </p:sp>
    </p:spTree>
    <p:extLst>
      <p:ext uri="{BB962C8B-B14F-4D97-AF65-F5344CB8AC3E}">
        <p14:creationId xmlns:p14="http://schemas.microsoft.com/office/powerpoint/2010/main" val="42268058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EEA939-FC23-4D0E-8D50-C8D8143E8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9B2905-9F23-4DED-BABE-8530DF80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PRODUCT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77DC7A-D180-485F-A67E-A80756794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Observe → Explain → Recommend → Approve → Deploy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3867DB-7CC1-478E-88C3-BC70661B5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A practical loop for AI answer optimization, built around review and control.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C73954-F7F1-4FA7-B040-0402E2CD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333D1E-820C-4902-AFFB-3AC64170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62300"/>
            <a:ext cx="16954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BDDF0F-707E-4AC1-8A58-BA9C1ADE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ADB646-A299-4169-9315-600F9AE67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Observe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9EC3BD-A796-4A32-BC3D-C169CD84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1338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Collect prompts, citations, competitors.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B420A6-D92E-4D41-82D4-53F283C4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8228E9-6D5E-4542-A796-CAB6A39E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49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2409825" y="38862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853B6-0F53-4E56-92DC-2C890135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62300"/>
            <a:ext cx="16954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1B1F40-1877-456D-8E88-B34B2A2E9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3C37A2-FF3E-4B7C-9594-B5DA85BD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Explain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999696-3BFC-4C5B-83D2-681C1FC3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1338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Score the gaps and show why.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09B883-0C53-4A14-ABC9-E5CF7FDA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BFEF24-BF5D-436D-85DE-8B037455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6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600575" y="38862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F911BF-CE72-4983-87B6-53C53B52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62300"/>
            <a:ext cx="16954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62821B-3B7F-4DF8-82B2-8E0A60A75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A3F9E1-EC95-485F-A18C-86EFA279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Recommend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A84EC8-5D98-4197-831F-42FF7DDFB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338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Draft fixes tied to issues.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C546C1-0E91-46DC-81D2-2786F42D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2B044C-8B78-4402-87BD-5CBD305FF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32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3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791325" y="38862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75A605-82E7-41BA-BB81-D6B3E148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62300"/>
            <a:ext cx="16954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976807-0FC7-4151-8533-4E1D68D68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65A5AE8-F452-46E0-8EC5-2D929A48A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Approve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08E7209-643E-4DC2-AE4C-301284BE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338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Human review stays in the loop.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4452495-A936-4F0A-B23F-B1294ED2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E237E4-2FE0-4BF5-A361-D97CFDAD4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8766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0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982075" y="388620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3D798E5-AF1B-42BB-95E6-0465A3E0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62300"/>
            <a:ext cx="16954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7F3F15-A8B3-4B1C-9628-004F025F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409950"/>
            <a:ext cx="38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05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33DD8E-6FDE-4213-BC5E-D6E6769B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1475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Deploy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22CA1-BE6A-4B95-8BA2-61D43059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133850"/>
            <a:ext cx="1200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Open a PR with repair files.</a:t>
            </a:r>
          </a:p>
        </p:txBody>
      </p:sp>
    </p:spTree>
    <p:extLst>
      <p:ext uri="{BB962C8B-B14F-4D97-AF65-F5344CB8AC3E}">
        <p14:creationId xmlns:p14="http://schemas.microsoft.com/office/powerpoint/2010/main" val="18228381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B93B1DD-EE01-4EE1-BD00-627E88D3A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F001A1-3BB8-497F-9423-D25008BE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BUILD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860375-2ACC-46C4-88D3-0EDF449A7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Technical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28F13-582B-406B-B2BC-E77F7F61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A small pipeline that turns one brand URL into an explainable diagnosis and deployable fixes.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46CE99-F6FC-4B09-B496-CEDDA8E7B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83A9A-B278-4FB0-9D1B-7A7BB453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364F3B-CB21-437B-9081-9BB737D30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Brand URL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5123D8-2EF4-45C9-B284-7FE463739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Input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9DDDA8-B9A1-45DE-8A11-8065F5BF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ECF15-1F7F-49BF-9A79-8EB027E6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Research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FB229-118D-4793-A02B-40CB6C63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Groq-first prompts + competitors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601A10-82D3-4DD5-A9E8-278EA5C9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02E474-D06A-4F4D-B48D-8702AEC8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0670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Crawler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C704B1-A9BD-424B-BFB5-1862B9756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9090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Site signals + JSON-LD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03B433-6A79-427B-850C-CA0AC436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0FCED-C3F9-4D33-A347-57EFE569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Scoring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E69FDE-D29B-410A-8C4E-31E82728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F9D0E3"/>
                </a:solidFill>
              </a:defRPr>
            </a:pPr>
            <a:r>
              <a:rPr sz="1125" b="0">
                <a:solidFill>
                  <a:srgbClr val="F9D0E3"/>
                </a:solidFill>
              </a:rPr>
              <a:t>Explainable rubric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3EEF0-2DC2-4B58-B0B8-F826EB49B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5F7DE3-75B8-4A53-B23C-2A3BD544F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Repair agent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4BFD4A-0B32-4ED4-9A90-58C35252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FAQ, comparison, schema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3828B5-0890-4260-AB08-630DE2A26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24350"/>
            <a:ext cx="3028950" cy="87630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A1963C-78A8-420B-8B36-C51EB6458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4958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GitHub PR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9BDFDE-3030-4E83-86D0-60DA2D980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819650"/>
            <a:ext cx="2400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A7A7A"/>
                </a:solidFill>
              </a:defRPr>
            </a:pPr>
            <a:r>
              <a:rPr sz="1125" b="0">
                <a:solidFill>
                  <a:srgbClr val="7A7A7A"/>
                </a:solidFill>
              </a:rPr>
              <a:t>Review-gated deploy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6A8CF-1B92-4D69-BD47-0C8AE7A48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ECF1EC-31E4-4909-B9E0-BB464286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4" name=""/>
          <p:cNvCxnSpPr>
            <a:stCxn xmlns:a="http://schemas.openxmlformats.org/drawingml/2006/main" id="24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724275" y="33337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E51C5-9825-486E-8A1A-35A8997E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0AF589-598A-4B09-A5FD-842E70E42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33242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67" name=""/>
          <p:cNvCxnSpPr>
            <a:stCxn xmlns:a="http://schemas.openxmlformats.org/drawingml/2006/main" id="27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7400925" y="333375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C909C8B-8322-4EBC-8104-EEA4E7EC3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37623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9827BA-C8F3-44C6-A29C-CF45B10D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3575" y="43148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0" name=""/>
          <p:cNvCxnSpPr>
            <a:stCxn xmlns:a="http://schemas.openxmlformats.org/drawingml/2006/main" id="30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9563100" y="3781425"/>
            <a:ext cx="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A848C73-3609-4DF7-9271-681A547B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6CA3D6-9610-482D-975C-74D894154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3" name=""/>
          <p:cNvCxnSpPr>
            <a:stCxn xmlns:a="http://schemas.openxmlformats.org/drawingml/2006/main" id="33" idx="1"/>
            <a:endCxn xmlns:a="http://schemas.openxmlformats.org/drawingml/2006/main" id="34" idx="3"/>
          </p:cNvCxnSpPr>
          <p:nvPr/>
        </p:nvCxnSpPr>
        <p:spPr>
          <a:xfrm xmlns:a="http://schemas.openxmlformats.org/drawingml/2006/main" flipH="1">
            <a:off x="7400925" y="47625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DD7E767-0DE9-4E36-8D08-7B5DBDBA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ABC46E0-5B25-4E0E-9D66-92D74255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7529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6" name=""/>
          <p:cNvCxnSpPr>
            <a:stCxn xmlns:a="http://schemas.openxmlformats.org/drawingml/2006/main" id="36" idx="1"/>
            <a:endCxn xmlns:a="http://schemas.openxmlformats.org/drawingml/2006/main" id="37" idx="3"/>
          </p:cNvCxnSpPr>
          <p:nvPr/>
        </p:nvCxnSpPr>
        <p:spPr>
          <a:xfrm xmlns:a="http://schemas.openxmlformats.org/drawingml/2006/main" flipH="1">
            <a:off x="3724275" y="4762500"/>
            <a:ext cx="6286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4A8CB"/>
            </a:solidFill>
            <a:prstDash val="solid"/>
            <a:headEnd type="arrow" w="med" len="med"/>
          </a:ln>
        </p:spPr>
      </p:cxnSp>
    </p:spTree>
    <p:extLst>
      <p:ext uri="{BB962C8B-B14F-4D97-AF65-F5344CB8AC3E}">
        <p14:creationId xmlns:p14="http://schemas.microsoft.com/office/powerpoint/2010/main" val="1879150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30AFBE-E8DE-4A6F-94F4-4F05DCA0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13BD90-5452-4E98-98F3-46ED3513D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BUSINESS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D03079-D7E3-40E7-8AFD-C0779058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Subscription software for teams that depend on inbound discovery.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F2C73-EF81-41C1-B5B9-0E0D4C892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Target customers are already paying for SEO, content, and performance marketing, but lack AI-answer visibility.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5889BD-05F9-429E-8E6D-5B66FF40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95D8E-385B-4EF4-9175-F3EC479B3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14650"/>
            <a:ext cx="3200400" cy="2076450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7041A-AECD-49F7-BD59-61853471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194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Target audience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17874E-945E-4756-80A4-0ED0A0DC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14750"/>
            <a:ext cx="219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B2B SaaS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Growth teams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Content marketers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Founders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67612-CFB8-42E7-98FD-3605F69E8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14650"/>
            <a:ext cx="3200400" cy="2076450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712F65-5C8F-49D9-9397-755F6003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Pricing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5849D-665E-44C7-9FED-1A2ED310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733800"/>
            <a:ext cx="2190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Monthly subscription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Usage tiers by domains,</a:t>
            </a:r>
          </a:p>
          <a:p xmlns:a="http://schemas.openxmlformats.org/drawingml/2006/main">
            <a:pPr algn="l">
              <a:defRPr sz="1650" b="0">
                <a:solidFill>
                  <a:srgbClr val="3D3D3D"/>
                </a:solidFill>
              </a:defRPr>
            </a:pPr>
            <a:r>
              <a:rPr sz="1650" b="0">
                <a:solidFill>
                  <a:srgbClr val="3D3D3D"/>
                </a:solidFill>
              </a:rPr>
              <a:t>prompts, and PR repairs.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2F616A-3A1C-41EB-81BF-92FCC76D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3200400" cy="2076450"/>
          </a:xfrm>
          <a:prstGeom xmlns:a="http://schemas.openxmlformats.org/drawingml/2006/main" prst="roundRect">
            <a:avLst>
              <a:gd name="adj" fmla="val 7339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8DB6F4-8DAF-4431-ACAD-5CD10C43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194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Expansion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A4ABD4-3485-4B98-8C36-3C8768032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528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9D0E3"/>
                </a:solidFill>
              </a:defRPr>
            </a:pPr>
            <a:r>
              <a:rPr sz="1650" b="0">
                <a:solidFill>
                  <a:srgbClr val="F9D0E3"/>
                </a:solidFill>
              </a:rPr>
              <a:t>Monitoring</a:t>
            </a:r>
          </a:p>
          <a:p xmlns:a="http://schemas.openxmlformats.org/drawingml/2006/main">
            <a:pPr algn="l">
              <a:defRPr sz="1650" b="0">
                <a:solidFill>
                  <a:srgbClr val="F9D0E3"/>
                </a:solidFill>
              </a:defRPr>
            </a:pPr>
            <a:r>
              <a:rPr sz="1650" b="0">
                <a:solidFill>
                  <a:srgbClr val="F9D0E3"/>
                </a:solidFill>
              </a:rPr>
              <a:t>Team workflows</a:t>
            </a:r>
          </a:p>
          <a:p xmlns:a="http://schemas.openxmlformats.org/drawingml/2006/main">
            <a:pPr algn="l">
              <a:defRPr sz="1650" b="0">
                <a:solidFill>
                  <a:srgbClr val="F9D0E3"/>
                </a:solidFill>
              </a:defRPr>
            </a:pPr>
            <a:r>
              <a:rPr sz="1650" b="0">
                <a:solidFill>
                  <a:srgbClr val="F9D0E3"/>
                </a:solidFill>
              </a:rPr>
              <a:t>CMS/Git integrations</a:t>
            </a:r>
          </a:p>
        </p:txBody>
      </p:sp>
    </p:spTree>
    <p:extLst>
      <p:ext uri="{BB962C8B-B14F-4D97-AF65-F5344CB8AC3E}">
        <p14:creationId xmlns:p14="http://schemas.microsoft.com/office/powerpoint/2010/main" val="3849991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EFE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75ACD17-6CBB-4FDD-8AE9-E3FF7E241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8625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GhostFix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D93DB-A093-4459-B54A-688E1E962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572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A7A7A"/>
                </a:solidFill>
              </a:defRPr>
            </a:pPr>
            <a:r>
              <a:rPr sz="1050" b="1">
                <a:solidFill>
                  <a:srgbClr val="7A7A7A"/>
                </a:solidFill>
              </a:rPr>
              <a:t>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2B414-95A1-418A-B9B7-CAEDCEE33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7239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111111"/>
                </a:solidFill>
              </a:defRPr>
            </a:pPr>
            <a:r>
              <a:rPr sz="3225" b="1">
                <a:solidFill>
                  <a:srgbClr val="111111"/>
                </a:solidFill>
              </a:rPr>
              <a:t>Demo: from URL to repair PR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31BE14-29C9-4F07-9B00-AE5390D0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7A7A7A"/>
                </a:solidFill>
              </a:defRPr>
            </a:pPr>
            <a:r>
              <a:rPr sz="1575" b="0">
                <a:solidFill>
                  <a:srgbClr val="7A7A7A"/>
                </a:solidFill>
              </a:rPr>
              <a:t>Show the product loop live: analyze a brand, inspect the competitor gap, generate fixes, and open a review-gated PR.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5E43BD-6868-4A6E-BF5C-A4D19E54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1531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703DF9-DBC5-43D5-A91D-DEEAF700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86050"/>
            <a:ext cx="10363200" cy="270510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DDF2BF-189F-442A-915D-910BCC296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97917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AEB681-09A2-4D0B-95B9-5F7C7F238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A8CB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C916B2-77B4-48E3-8F80-9498AA7B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9D0E3"/>
          </a:solidFill>
          <a:ln xmlns:a="http://schemas.openxmlformats.org/drawingml/2006/main" w="13335">
            <a:solidFill>
              <a:srgbClr val="F9D0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9AFAB2-157A-40EA-B5C4-78C2C58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3152775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E8F1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C70B3-2CFA-4B77-B9AA-BFDF0238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105150"/>
            <a:ext cx="85915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EEEEE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373DDE-2801-4BE4-AA1E-529CD1B8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623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7A7A7A"/>
                </a:solidFill>
              </a:defRPr>
            </a:pPr>
            <a:r>
              <a:rPr sz="825" b="0">
                <a:solidFill>
                  <a:srgbClr val="7A7A7A"/>
                </a:solidFill>
              </a:rPr>
              <a:t>ghostfix.app/analyze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E246B-9811-48A1-AE80-35D2D5392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C0D657-83B0-4168-BABB-D21A73BAC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0DEB4A-730E-4261-8C17-78953149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41FEE0-7041-4929-A689-EC407C5F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Enter brand URL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A58F0C-AFBA-4E18-933A-561F9CB7C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GhostFix researches prompts and rivals.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023520-19D1-4A61-B7A9-98600434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DF4F8"/>
          </a:solidFill>
          <a:ln xmlns:a="http://schemas.openxmlformats.org/drawingml/2006/main" w="13335">
            <a:solidFill>
              <a:srgbClr val="F4A8C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EBBB04-C757-467D-886B-EC6B6997C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04D8A"/>
          </a:solidFill>
          <a:ln xmlns:a="http://schemas.openxmlformats.org/drawingml/2006/main" w="13335">
            <a:solidFill>
              <a:srgbClr val="E04D8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9F0B7D-B713-4C56-9811-2F4024E4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6F3454-79AD-4148-BF0A-6861FCAD6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Review diagnosis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70003F-697B-439E-A115-B8F6799D9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14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See why AI cites competitors.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41F79D-CB58-4A95-81EF-B878BD709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12E3B0-8D22-4D6A-BBF8-4EA1F510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0953CD-DF7A-45E0-A6FA-A666C58B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246A74-84CF-415E-BB9A-EC240ACCB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Generate fixes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83BA04E-BF79-4AAE-ABF9-73CE6D60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FAQ, comparison, and schema drafts.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BDA75F-0D44-4C3E-BA91-EFBDA419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48100"/>
            <a:ext cx="196215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AFAFA"/>
          </a:solidFill>
          <a:ln xmlns:a="http://schemas.openxmlformats.org/drawingml/2006/main" w="13335">
            <a:solidFill>
              <a:srgbClr val="FCE8F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5DEDA0-F835-4156-847A-428495BD5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57650"/>
            <a:ext cx="323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11111"/>
          </a:solidFill>
          <a:ln xmlns:a="http://schemas.openxmlformats.org/drawingml/2006/main" w="13335">
            <a:solidFill>
              <a:srgbClr val="11111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AC6E0C-E70A-45A5-9EF9-D9AC2A1F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05275"/>
            <a:ext cx="323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ECD6C4-EC55-4CAD-927C-2D0EDFC50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1104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Open PR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0AF854-939E-4FE6-950E-F547D14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4577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7A7A7A"/>
                </a:solidFill>
              </a:defRPr>
            </a:pPr>
            <a:r>
              <a:rPr sz="975" b="0">
                <a:solidFill>
                  <a:srgbClr val="7A7A7A"/>
                </a:solidFill>
              </a:rPr>
              <a:t>Approve before anything ships.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417875-6E40-4CE5-9710-AA3431DD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531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Close: AI visibility is becoming a measurable, repairable workflow.</a:t>
            </a:r>
          </a:p>
        </p:txBody>
      </p:sp>
    </p:spTree>
    <p:extLst>
      <p:ext uri="{BB962C8B-B14F-4D97-AF65-F5344CB8AC3E}">
        <p14:creationId xmlns:p14="http://schemas.microsoft.com/office/powerpoint/2010/main" val="7872943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2026-06-27T07:48:48.2240000Z</dcterms:created>
  <dcterms:modified xsi:type="dcterms:W3CDTF">2026-06-27T07:48:48.2240000Z</dcterms:modified>
</coreProperties>
</file>