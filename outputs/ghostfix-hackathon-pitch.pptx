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30a149b706425c" /><Relationship Type="http://schemas.openxmlformats.org/officeDocument/2006/relationships/extended-properties" Target="/docProps/app.xml" Id="Rae09222d8a8b417e" /><Relationship Type="http://schemas.openxmlformats.org/officeDocument/2006/relationships/officeDocument" Target="/ppt/presentation.xml" Id="R29ce111c7c8340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63a40dd53246c4"/>
  </p:sldMasterIdLst>
  <p:notesMasterIdLst>
    <p:notesMasterId xmlns:r="http://schemas.openxmlformats.org/officeDocument/2006/relationships" r:id="R2683454c8f884dc9"/>
  </p:notesMasterIdLst>
  <p:sldIdLst>
    <p:sldId xmlns:r="http://schemas.openxmlformats.org/officeDocument/2006/relationships" id="256" r:id="R3f03f052ad5c4c99"/>
    <p:sldId xmlns:r="http://schemas.openxmlformats.org/officeDocument/2006/relationships" id="257" r:id="R9f7610a4ab7247ce"/>
    <p:sldId xmlns:r="http://schemas.openxmlformats.org/officeDocument/2006/relationships" id="258" r:id="R5c99ce0ec61d409c"/>
    <p:sldId xmlns:r="http://schemas.openxmlformats.org/officeDocument/2006/relationships" id="259" r:id="R11c504f5dfb94bf7"/>
    <p:sldId xmlns:r="http://schemas.openxmlformats.org/officeDocument/2006/relationships" id="260" r:id="R41ca038ac76d4347"/>
    <p:sldId xmlns:r="http://schemas.openxmlformats.org/officeDocument/2006/relationships" id="261" r:id="R112cbddcdbc84976"/>
    <p:sldId xmlns:r="http://schemas.openxmlformats.org/officeDocument/2006/relationships" id="262" r:id="R05a6881bcf34497c"/>
    <p:sldId xmlns:r="http://schemas.openxmlformats.org/officeDocument/2006/relationships" id="263" r:id="R760a3744450d4c8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73e66d430044dd" /><Relationship Type="http://schemas.openxmlformats.org/officeDocument/2006/relationships/slideMaster" Target="/ppt/slideMasters/slideMaster1.xml" Id="R1b63a40dd53246c4" /><Relationship Type="http://schemas.openxmlformats.org/officeDocument/2006/relationships/notesMaster" Target="/ppt/notesMasters/notesMaster1.xml" Id="R2683454c8f884dc9" /><Relationship Type="http://schemas.openxmlformats.org/officeDocument/2006/relationships/presProps" Target="/ppt/presProps.xml" Id="R1c3a2d610f464be2" /><Relationship Type="http://schemas.openxmlformats.org/officeDocument/2006/relationships/tableStyles" Target="/ppt/tableStyles.xml" Id="R09b296a7dadc441f" /><Relationship Type="http://schemas.openxmlformats.org/officeDocument/2006/relationships/slide" Target="/ppt/slides/slide1.xml" Id="R3f03f052ad5c4c99" /><Relationship Type="http://schemas.openxmlformats.org/officeDocument/2006/relationships/slide" Target="/ppt/slides/slide2.xml" Id="R9f7610a4ab7247ce" /><Relationship Type="http://schemas.openxmlformats.org/officeDocument/2006/relationships/slide" Target="/ppt/slides/slide3.xml" Id="R5c99ce0ec61d409c" /><Relationship Type="http://schemas.openxmlformats.org/officeDocument/2006/relationships/slide" Target="/ppt/slides/slide4.xml" Id="R11c504f5dfb94bf7" /><Relationship Type="http://schemas.openxmlformats.org/officeDocument/2006/relationships/slide" Target="/ppt/slides/slide5.xml" Id="R41ca038ac76d4347" /><Relationship Type="http://schemas.openxmlformats.org/officeDocument/2006/relationships/slide" Target="/ppt/slides/slide6.xml" Id="R112cbddcdbc84976" /><Relationship Type="http://schemas.openxmlformats.org/officeDocument/2006/relationships/slide" Target="/ppt/slides/slide7.xml" Id="R05a6881bcf34497c" /><Relationship Type="http://schemas.openxmlformats.org/officeDocument/2006/relationships/slide" Target="/ppt/slides/slide8.xml" Id="R760a3744450d4c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9b6c89884444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9ce08a89a94156" /><Relationship Type="http://schemas.openxmlformats.org/officeDocument/2006/relationships/notesMaster" Target="/ppt/notesMasters/notesMaster1.xml" Id="R6304eff9b6ff4c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4b895da9fe4301" /><Relationship Type="http://schemas.openxmlformats.org/officeDocument/2006/relationships/notesMaster" Target="/ppt/notesMasters/notesMaster1.xml" Id="Rcabceb76616343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ea6529c7484239" /><Relationship Type="http://schemas.openxmlformats.org/officeDocument/2006/relationships/notesMaster" Target="/ppt/notesMasters/notesMaster1.xml" Id="R3211e251065244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8397df85f84b74" /><Relationship Type="http://schemas.openxmlformats.org/officeDocument/2006/relationships/notesMaster" Target="/ppt/notesMasters/notesMaster1.xml" Id="Raac13637f2b340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a3b70e5ec746a7" /><Relationship Type="http://schemas.openxmlformats.org/officeDocument/2006/relationships/notesMaster" Target="/ppt/notesMasters/notesMaster1.xml" Id="Rb88922ea4b464e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d4f9de3ddd4cad" /><Relationship Type="http://schemas.openxmlformats.org/officeDocument/2006/relationships/notesMaster" Target="/ppt/notesMasters/notesMaster1.xml" Id="Rb8440ad2c6854b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05b836d28e4d5e" /><Relationship Type="http://schemas.openxmlformats.org/officeDocument/2006/relationships/notesMaster" Target="/ppt/notesMasters/notesMaster1.xml" Id="R9c7477ed4cb846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3e31f606004a9f" /><Relationship Type="http://schemas.openxmlformats.org/officeDocument/2006/relationships/notesMaster" Target="/ppt/notesMasters/notesMaster1.xml" Id="R0c76d85390e745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2afc1c3f0040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db32cbeca94f2e" /><Relationship Type="http://schemas.openxmlformats.org/officeDocument/2006/relationships/slideLayout" Target="/ppt/slideLayouts/slideLayout1.xml" Id="Rcb1d40db33b64f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1d40db33b64f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38bb694a24b29" /><Relationship Type="http://schemas.openxmlformats.org/officeDocument/2006/relationships/notesSlide" Target="/ppt/notesSlides/notesSlide1.xml" Id="R20713de86c104d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958b85ff041e2" /><Relationship Type="http://schemas.openxmlformats.org/officeDocument/2006/relationships/notesSlide" Target="/ppt/notesSlides/notesSlide2.xml" Id="Rfbb5936046594b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283ff13914739" /><Relationship Type="http://schemas.openxmlformats.org/officeDocument/2006/relationships/notesSlide" Target="/ppt/notesSlides/notesSlide3.xml" Id="R9cfd2838fd024b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497b2970e4e9e" /><Relationship Type="http://schemas.openxmlformats.org/officeDocument/2006/relationships/notesSlide" Target="/ppt/notesSlides/notesSlide4.xml" Id="R0c2e136beae244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f466b43d44007" /><Relationship Type="http://schemas.openxmlformats.org/officeDocument/2006/relationships/notesSlide" Target="/ppt/notesSlides/notesSlide5.xml" Id="Rea1a83f622ef43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b31bbb5c54efd" /><Relationship Type="http://schemas.openxmlformats.org/officeDocument/2006/relationships/notesSlide" Target="/ppt/notesSlides/notesSlide6.xml" Id="R80c99ee05f9049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93aab048b4fc7" /><Relationship Type="http://schemas.openxmlformats.org/officeDocument/2006/relationships/notesSlide" Target="/ppt/notesSlides/notesSlide7.xml" Id="Rd3985f521cd947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18ca782e54d61" /><Relationship Type="http://schemas.openxmlformats.org/officeDocument/2006/relationships/notesSlide" Target="/ppt/notesSlides/notesSlide8.xml" Id="Rd96c310b85dc43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3FB10E-1A2E-444C-98E5-8AAF535B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GhostFix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9CED7-DC96-4B7C-853C-4F2D2AE7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GhostFix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B6C87-2C76-4A83-BE35-A6BACBEF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D3D3D"/>
                </a:solidFill>
              </a:defRPr>
            </a:pPr>
            <a:r>
              <a:rPr sz="1950" b="0">
                <a:solidFill>
                  <a:srgbClr val="3D3D3D"/>
                </a:solidFill>
              </a:rPr>
              <a:t>AI visibility diagnosis and repair for brands losing citations to competitors.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2B9E9-0D13-4A3A-97C0-03BC773E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4D8A"/>
          </a:solidFill>
          <a:ln xmlns:a="http://schemas.openxmlformats.org/drawingml/2006/main" w="13335">
            <a:solidFill>
              <a:srgbClr val="E04D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F02A4-1F57-436B-9B9D-48105DC4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337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HACKATHON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214E1-8F42-4148-A25C-B912D85D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57300"/>
            <a:ext cx="3676650" cy="3733800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CE8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61FBD-6400-422D-BBF2-C281600D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85900"/>
            <a:ext cx="32194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CE8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F401B-657A-4169-8AE3-1C523EA3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478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8CB"/>
          </a:solidFill>
          <a:ln xmlns:a="http://schemas.openxmlformats.org/drawingml/2006/main" w="13335">
            <a:solidFill>
              <a:srgbClr val="F4A8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743D7-0C23-4BFA-89F0-35F3A607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478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D0E3"/>
          </a:solidFill>
          <a:ln xmlns:a="http://schemas.openxmlformats.org/drawingml/2006/main" w="13335">
            <a:solidFill>
              <a:srgbClr val="F9D0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63C9F-36FF-4210-9CC1-BBF2F615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478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8F1"/>
          </a:solidFill>
          <a:ln xmlns:a="http://schemas.openxmlformats.org/drawingml/2006/main" w="13335">
            <a:solidFill>
              <a:srgbClr val="FCE8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AB38F-F469-4315-8A26-85FE0DAB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00200"/>
            <a:ext cx="2019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3335">
            <a:solidFill>
              <a:srgbClr val="EEEE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974FF-116A-426F-B39F-286C36DA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573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A7A"/>
                </a:solidFill>
              </a:defRPr>
            </a:pPr>
            <a:r>
              <a:rPr sz="825" b="0">
                <a:solidFill>
                  <a:srgbClr val="7A7A7A"/>
                </a:solidFill>
              </a:rPr>
              <a:t>ghostfix.app/analyze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22C99-ACA0-4CC1-ACFD-8115ECB5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669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4D8A"/>
          </a:solidFill>
          <a:ln xmlns:a="http://schemas.openxmlformats.org/drawingml/2006/main" w="13335">
            <a:solidFill>
              <a:srgbClr val="E04D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9D15CA-A7E2-4011-B379-87ECC9C4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1457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E500F8-F49D-4495-8900-D4B975EF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194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A7A7A"/>
                </a:solidFill>
              </a:defRPr>
            </a:pPr>
            <a:r>
              <a:rPr sz="1350" b="1">
                <a:solidFill>
                  <a:srgbClr val="7A7A7A"/>
                </a:solidFill>
              </a:rPr>
              <a:t>AI visibility 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0789FC-4FAE-40E7-9BE2-7C8F861D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1104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79BD09-DA70-4CE8-8BD3-BB77AB42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A7A7A"/>
                </a:solidFill>
              </a:defRPr>
            </a:pPr>
            <a:r>
              <a:rPr sz="1725" b="1">
                <a:solidFill>
                  <a:srgbClr val="7A7A7A"/>
                </a:solidFill>
              </a:rPr>
              <a:t>/100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02C67D-B54F-4B06-8CE3-B8FC2674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62400"/>
            <a:ext cx="27813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DF4F8"/>
          </a:solidFill>
          <a:ln xmlns:a="http://schemas.openxmlformats.org/drawingml/2006/main" w="13335">
            <a:solidFill>
              <a:srgbClr val="F9D0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DF66E7-3950-47C0-8729-EAF3CFEB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148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3D3D"/>
                </a:solidFill>
              </a:defRPr>
            </a:pPr>
            <a:r>
              <a:rPr sz="1125" b="0">
                <a:solidFill>
                  <a:srgbClr val="3D3D3D"/>
                </a:solidFill>
              </a:rPr>
              <a:t>vs. competitor citations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D5C4F6-1B4F-41E9-8368-DC5E5115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53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7A7A"/>
                </a:solidFill>
              </a:defRPr>
            </a:pPr>
            <a:r>
              <a:rPr sz="975" b="0">
                <a:solidFill>
                  <a:srgbClr val="7A7A7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513716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DD0EB7-E1A9-4F07-A2DA-B3A501DC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GhostFix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CA305-5BA0-49BA-ADD8-040E3F4F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7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A7A7A"/>
                </a:solidFill>
              </a:defRPr>
            </a:pPr>
            <a:r>
              <a:rPr sz="1050" b="1">
                <a:solidFill>
                  <a:srgbClr val="7A7A7A"/>
                </a:solidFill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8D0D8-C604-416E-80A8-56AF311F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7905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Search behavior changed. Tooling did not.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8C0B3-FB71-4684-8729-36F0DA5B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A7A7A"/>
                </a:solidFill>
              </a:defRPr>
            </a:pPr>
            <a:r>
              <a:rPr sz="1500" b="0">
                <a:solidFill>
                  <a:srgbClr val="7A7A7A"/>
                </a:solidFill>
              </a:rPr>
              <a:t>Companies optimized content for search links. Buyers now ask AI assistants for answers.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FED7A-21DB-4059-AE7B-B0ABF6ED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53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7A7A"/>
                </a:solidFill>
              </a:defRPr>
            </a:pPr>
            <a:r>
              <a:rPr sz="975" b="0">
                <a:solidFill>
                  <a:srgbClr val="7A7A7A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83FEF-75EF-4DBB-BBF8-3B85C5A2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304800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DF4F8"/>
          </a:solidFill>
          <a:ln xmlns:a="http://schemas.openxmlformats.org/drawingml/2006/main" w="13335">
            <a:solidFill>
              <a:srgbClr val="F9D0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2FA8F-CC2B-4DB7-BFAA-B88E4B88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2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Before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67542-A568-4D82-B5C1-57A1B17A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</a:defRPr>
            </a:pPr>
            <a:r>
              <a:rPr sz="1875" b="0">
                <a:solidFill>
                  <a:srgbClr val="3D3D3D"/>
                </a:solidFill>
              </a:rPr>
              <a:t>Rank pages.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</a:defRPr>
            </a:pPr>
            <a:r>
              <a:rPr sz="1875" b="0">
                <a:solidFill>
                  <a:srgbClr val="3D3D3D"/>
                </a:solidFill>
              </a:rPr>
              <a:t>Win clicks.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</a:defRPr>
            </a:pPr>
            <a:r>
              <a:rPr sz="1875" b="0">
                <a:solidFill>
                  <a:srgbClr val="3D3D3D"/>
                </a:solidFill>
              </a:rPr>
              <a:t>Optimize snippets.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48F1B-9F79-4805-BA9F-91E83AC0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7814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C3B6C-7A1D-4568-A9D8-EB25F527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7814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4124325" y="3790950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A8CB"/>
            </a:solidFill>
            <a:prstDash val="solid"/>
            <a:head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9C7430-E35D-4B7A-8DCE-F2CE45EF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71750"/>
            <a:ext cx="3486150" cy="2438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9D0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824B9-BEBC-48BE-8E5E-675C7358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76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Now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D8623C-6E35-48F2-8547-64DB798D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14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A7A7A"/>
                </a:solidFill>
              </a:defRPr>
            </a:pPr>
            <a:r>
              <a:rPr sz="1575" b="0">
                <a:solidFill>
                  <a:srgbClr val="7A7A7A"/>
                </a:solidFill>
              </a:rPr>
              <a:t>Users ask AI: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578EBB-CD1C-4068-936F-54078265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52850"/>
            <a:ext cx="2781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D3D3D"/>
                </a:solidFill>
              </a:defRPr>
            </a:pPr>
            <a:r>
              <a:rPr sz="1725" b="0">
                <a:solidFill>
                  <a:srgbClr val="3D3D3D"/>
                </a:solidFill>
              </a:rPr>
              <a:t>“Best CRM for startups”</a:t>
            </a:r>
          </a:p>
          <a:p xmlns:a="http://schemas.openxmlformats.org/drawingml/2006/main">
            <a:pPr algn="l">
              <a:defRPr sz="1725" b="0">
                <a:solidFill>
                  <a:srgbClr val="3D3D3D"/>
                </a:solidFill>
              </a:defRPr>
            </a:pPr>
            <a:r>
              <a:rPr sz="1725" b="0">
                <a:solidFill>
                  <a:srgbClr val="3D3D3D"/>
                </a:solidFill>
              </a:rPr>
              <a:t>“Compare analytics tools”</a:t>
            </a:r>
          </a:p>
          <a:p xmlns:a="http://schemas.openxmlformats.org/drawingml/2006/main">
            <a:pPr algn="l">
              <a:defRPr sz="1725" b="0">
                <a:solidFill>
                  <a:srgbClr val="3D3D3D"/>
                </a:solidFill>
              </a:defRPr>
            </a:pPr>
            <a:r>
              <a:rPr sz="1725" b="0">
                <a:solidFill>
                  <a:srgbClr val="3D3D3D"/>
                </a:solidFill>
              </a:rPr>
              <a:t>“What email API should I use?”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DCD914-9BB9-4038-BD61-214C952D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76550"/>
            <a:ext cx="1905000" cy="19621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162DC-B2D3-4F57-8B82-CF615A49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57550"/>
            <a:ext cx="13906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AI selects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who gets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cited.</a:t>
            </a:r>
          </a:p>
        </p:txBody>
      </p:sp>
    </p:spTree>
    <p:extLst>
      <p:ext uri="{BB962C8B-B14F-4D97-AF65-F5344CB8AC3E}">
        <p14:creationId xmlns:p14="http://schemas.microsoft.com/office/powerpoint/2010/main" val="7990628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50ADDB-35BD-4970-99FA-29D6391C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GhostFix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A42AA-2FDC-4D8B-A6A5-74EB99A4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7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A7A7A"/>
                </a:solidFill>
              </a:defRPr>
            </a:pPr>
            <a:r>
              <a:rPr sz="1050" b="1">
                <a:solidFill>
                  <a:srgbClr val="7A7A7A"/>
                </a:solidFill>
              </a:rPr>
              <a:t>WHY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A813F-7D8B-48C8-8048-28A1FCF5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7905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Losing the answer means losing the buyer.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4070F-6BC2-41A1-9BBD-4B550DD7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A7A7A"/>
                </a:solidFill>
              </a:defRPr>
            </a:pPr>
            <a:r>
              <a:rPr sz="1500" b="0">
                <a:solidFill>
                  <a:srgbClr val="7A7A7A"/>
                </a:solidFill>
              </a:rPr>
              <a:t>AI systems generate answers and cite selected sources. Brands outside the answer lose the moment of discovery.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C8E54-3C07-4B41-806B-911B57D6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53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7A7A"/>
                </a:solidFill>
              </a:defRPr>
            </a:pPr>
            <a:r>
              <a:rPr sz="975" b="0">
                <a:solidFill>
                  <a:srgbClr val="7A7A7A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56A72-F27D-4DEC-8F34-B55C5C6C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4762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DF4F8"/>
          </a:solidFill>
          <a:ln xmlns:a="http://schemas.openxmlformats.org/drawingml/2006/main" w="13335">
            <a:solidFill>
              <a:srgbClr val="FCE8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FD962-E689-43E2-94A0-F50AC101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Reduced discovery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5729F-B4D9-4FB6-A1BF-DF644CC3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A7A7A"/>
                </a:solidFill>
              </a:defRPr>
            </a:pPr>
            <a:r>
              <a:rPr sz="1200" b="0">
                <a:solidFill>
                  <a:srgbClr val="7A7A7A"/>
                </a:solidFill>
              </a:rPr>
              <a:t>Fewer buyers ever reach the site.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FB09F-6A18-4F08-953E-40A79037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52750"/>
            <a:ext cx="4762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CE8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07FBB-A28B-44F7-9F6E-3A6557D4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623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Declining inbound traffic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63379-BFCC-4230-839E-896ABB5B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05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A7A7A"/>
                </a:solidFill>
              </a:defRPr>
            </a:pPr>
            <a:r>
              <a:rPr sz="1200" b="0">
                <a:solidFill>
                  <a:srgbClr val="7A7A7A"/>
                </a:solidFill>
              </a:rPr>
              <a:t>Traditional SEO visibility no longer maps to AI answers.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450BD-81FC-4649-AE1C-64D4BE2C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4762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CE8F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314A4E-6773-4F1C-9848-A6AA121C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Lower conversion opportunities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68F81-475E-41EB-96F5-3DA42FF1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A7A7A"/>
                </a:solidFill>
              </a:defRPr>
            </a:pPr>
            <a:r>
              <a:rPr sz="1200" b="0">
                <a:solidFill>
                  <a:srgbClr val="7A7A7A"/>
                </a:solidFill>
              </a:rPr>
              <a:t>Competitors frame the shortlist before the user clicks.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A2E10-55AD-40F4-96FC-C08EA8E7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24350"/>
            <a:ext cx="4762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CE8F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9570C-9741-4006-AFA1-ABFB5031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339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No explanation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58FDA3-A673-45DE-A531-6C325018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76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A7A7A"/>
                </a:solidFill>
              </a:defRPr>
            </a:pPr>
            <a:r>
              <a:rPr sz="1200" b="0">
                <a:solidFill>
                  <a:srgbClr val="7A7A7A"/>
                </a:solidFill>
              </a:rPr>
              <a:t>Teams cannot see why rivals are referenced instead.</a:t>
            </a:r>
          </a:p>
        </p:txBody>
      </p:sp>
    </p:spTree>
    <p:extLst>
      <p:ext uri="{BB962C8B-B14F-4D97-AF65-F5344CB8AC3E}">
        <p14:creationId xmlns:p14="http://schemas.microsoft.com/office/powerpoint/2010/main" val="17465792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CDE437-F4D7-440B-9B14-A7C6F723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GhostFix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E4AA1-FB25-4C8E-B4D8-4A57CA1E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7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A7A7A"/>
                </a:solidFill>
              </a:defRPr>
            </a:pPr>
            <a:r>
              <a:rPr sz="1050" b="1">
                <a:solidFill>
                  <a:srgbClr val="7A7A7A"/>
                </a:solidFill>
              </a:rPr>
              <a:t>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EC7D4-0531-4B64-998C-CF2612E7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7905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GhostFix explains why competitors win AI citations.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8B3BE-FD43-4C0C-8375-DB8790CC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A7A7A"/>
                </a:solidFill>
              </a:defRPr>
            </a:pPr>
            <a:r>
              <a:rPr sz="1500" b="0">
                <a:solidFill>
                  <a:srgbClr val="7A7A7A"/>
                </a:solidFill>
              </a:rPr>
              <a:t>Then it turns the diagnosis into fixes teams can review, approve, and deploy.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D35BA-B271-4272-8CD8-A9B01DA9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53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7A7A"/>
                </a:solidFill>
              </a:defRPr>
            </a:pPr>
            <a:r>
              <a:rPr sz="975" b="0">
                <a:solidFill>
                  <a:srgbClr val="7A7A7A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DD595-7569-4D52-84C6-397C012B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9149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CE8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8195B-DEE4-4FBD-A292-460B8659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4D8A"/>
          </a:solidFill>
          <a:ln xmlns:a="http://schemas.openxmlformats.org/drawingml/2006/main" w="13335">
            <a:solidFill>
              <a:srgbClr val="E04D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034FB-5599-44D2-8B2E-D761DBC3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3372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DIAGNOSIS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0A13B-8562-41BE-97B8-8637DFE5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Compares your site against the rival AI recommends.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9A1B2-2800-4204-9336-6842AF5A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3848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A7A7A"/>
                </a:solidFill>
              </a:defRPr>
            </a:pPr>
            <a:r>
              <a:rPr sz="1275" b="0">
                <a:solidFill>
                  <a:srgbClr val="7A7A7A"/>
                </a:solidFill>
              </a:rPr>
              <a:t>Finds citation gaps across answer share, content coverage, structured data, evidence density, freshness, and trust.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3B1E5-DF94-45C6-92BA-54362BFC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49149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07BE4-388C-4C74-BF73-937BDB1D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86100"/>
            <a:ext cx="819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2569C-5286-4B29-B790-624538EE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3372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REPAIR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83C39-FE26-4315-B19D-CEB7C087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00450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Generates content and schema drafts ready for human review.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AFB03-D6A5-4B22-A34B-FAC8AA7D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00550"/>
            <a:ext cx="365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9D0E3"/>
                </a:solidFill>
              </a:defRPr>
            </a:pPr>
            <a:r>
              <a:rPr sz="1275" b="0">
                <a:solidFill>
                  <a:srgbClr val="F9D0E3"/>
                </a:solidFill>
              </a:rPr>
              <a:t>FAQ, comparison page, JSON-LD, and PR-ready deployment artifacts.</a:t>
            </a:r>
          </a:p>
        </p:txBody>
      </p:sp>
    </p:spTree>
    <p:extLst>
      <p:ext uri="{BB962C8B-B14F-4D97-AF65-F5344CB8AC3E}">
        <p14:creationId xmlns:p14="http://schemas.microsoft.com/office/powerpoint/2010/main" val="15260127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F1F2B6-9AAC-46D8-B294-364994CC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GhostFix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C6B46-87D5-4AD3-958F-AAE0DFDF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7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A7A7A"/>
                </a:solidFill>
              </a:defRPr>
            </a:pPr>
            <a:r>
              <a:rPr sz="1050" b="1">
                <a:solidFill>
                  <a:srgbClr val="7A7A7A"/>
                </a:solidFill>
              </a:rPr>
              <a:t>PRODUCT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CA71A-DE80-47A7-8EF6-6F36D66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7905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The GhostFix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66638-675A-4FDF-81F3-29D241B2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A7A7A"/>
                </a:solidFill>
              </a:defRPr>
            </a:pPr>
            <a:r>
              <a:rPr sz="1500" b="0">
                <a:solidFill>
                  <a:srgbClr val="7A7A7A"/>
                </a:solidFill>
              </a:rPr>
              <a:t>Observe → Explain → Recommend → Approve → Deploy, with review and control built 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E167A-8D37-4911-BA71-E32DF5CA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53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7A7A"/>
                </a:solidFill>
              </a:defRPr>
            </a:pPr>
            <a:r>
              <a:rPr sz="975" b="0">
                <a:solidFill>
                  <a:srgbClr val="7A7A7A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FBC9C-2132-45E4-B9FD-C681B77B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179070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CE8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55AE2-DD39-401B-849E-69E876CA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7A7A"/>
                </a:solidFill>
              </a:defRPr>
            </a:pPr>
            <a:r>
              <a:rPr sz="1050" b="1">
                <a:solidFill>
                  <a:srgbClr val="7A7A7A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7B3B7-9CC7-4305-9F6F-338FA651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Observe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9210A-DF58-40C0-955C-AE1DB751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7A7A"/>
                </a:solidFill>
              </a:defRPr>
            </a:pPr>
            <a:r>
              <a:rPr sz="1050" b="0">
                <a:solidFill>
                  <a:srgbClr val="7A7A7A"/>
                </a:solidFill>
              </a:rPr>
              <a:t>Collect prompts, citations, competitors.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50227-9AE0-4CB1-A67D-208FEEEB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95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2CDDF-174E-4B9B-B3C5-8394565D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895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9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2505075" y="39052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A8CB"/>
            </a:solidFill>
            <a:prstDash val="solid"/>
            <a:head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7AFBC7-6010-46C1-B554-BEC31BDB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62300"/>
            <a:ext cx="179070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CE8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9C8BD-44C5-46B0-9C22-12A8E749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09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7A7A"/>
                </a:solidFill>
              </a:defRPr>
            </a:pPr>
            <a:r>
              <a:rPr sz="1050" b="1">
                <a:solidFill>
                  <a:srgbClr val="7A7A7A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61237-FD67-47F8-B46E-755A0FA8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147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Explain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E50310-701C-4BDE-8AF4-CB23D936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719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7A7A"/>
                </a:solidFill>
              </a:defRPr>
            </a:pPr>
            <a:r>
              <a:rPr sz="1050" b="0">
                <a:solidFill>
                  <a:srgbClr val="7A7A7A"/>
                </a:solidFill>
              </a:rPr>
              <a:t>Score the gaps and show why.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EBDF44-2471-4B68-AA5E-EF53FFA4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895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91264-9A8D-4998-830B-E8785E0E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95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6" name=""/>
          <p:cNvCxnSpPr>
            <a:stCxn xmlns:a="http://schemas.openxmlformats.org/drawingml/2006/main" id="17" idx="1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>
            <a:off x="4638675" y="39052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A8CB"/>
            </a:solidFill>
            <a:prstDash val="solid"/>
            <a:head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B004FB-65D4-4847-AF21-AF96F382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62300"/>
            <a:ext cx="179070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DF4F8"/>
          </a:solidFill>
          <a:ln xmlns:a="http://schemas.openxmlformats.org/drawingml/2006/main" w="13335">
            <a:solidFill>
              <a:srgbClr val="F4A8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CEE482-049F-40BE-8DFB-F36B9075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09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7A7A"/>
                </a:solidFill>
              </a:defRPr>
            </a:pPr>
            <a:r>
              <a:rPr sz="1050" b="1">
                <a:solidFill>
                  <a:srgbClr val="7A7A7A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7B52D4-4662-4F75-94E5-08CC0FB2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147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Recommend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75A2FC-77AC-489E-A2DD-BE609505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719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7A7A"/>
                </a:solidFill>
              </a:defRPr>
            </a:pPr>
            <a:r>
              <a:rPr sz="1050" b="0">
                <a:solidFill>
                  <a:srgbClr val="7A7A7A"/>
                </a:solidFill>
              </a:rPr>
              <a:t>Draft fixes tied to issues.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3A1509-A202-4299-847A-58C7DB70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95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E84533-C828-4998-8570-B1B157EC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895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3" name=""/>
          <p:cNvCxnSpPr>
            <a:stCxn xmlns:a="http://schemas.openxmlformats.org/drawingml/2006/main" id="24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6772275" y="39052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A8CB"/>
            </a:solidFill>
            <a:prstDash val="solid"/>
            <a:head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1282A5-4EAA-4ABD-B610-07F23399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62300"/>
            <a:ext cx="179070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CE8F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262DEE-1934-45FC-8302-B11DA6BF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09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7A7A"/>
                </a:solidFill>
              </a:defRPr>
            </a:pPr>
            <a:r>
              <a:rPr sz="1050" b="1">
                <a:solidFill>
                  <a:srgbClr val="7A7A7A"/>
                </a:solidFill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5C4D56-50B3-4A40-9DCF-3FA1BF4A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147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Approve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E86F51-6A02-44EE-9D90-E232BED3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719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7A7A"/>
                </a:solidFill>
              </a:defRPr>
            </a:pPr>
            <a:r>
              <a:rPr sz="1050" b="0">
                <a:solidFill>
                  <a:srgbClr val="7A7A7A"/>
                </a:solidFill>
              </a:rPr>
              <a:t>Human review stays in the loop.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37DB14-01DA-4671-9840-A67C78C0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895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AB44C4-175C-4D67-A753-7B4A958B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895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0" name=""/>
          <p:cNvCxnSpPr>
            <a:stCxn xmlns:a="http://schemas.openxmlformats.org/drawingml/2006/main" id="31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8905875" y="39052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A8CB"/>
            </a:solidFill>
            <a:prstDash val="solid"/>
            <a:head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F0C87D-A182-493B-854B-E451A73F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62300"/>
            <a:ext cx="179070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CE8F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49C0A4-54D9-4920-B10C-D5B7EA24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09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7A7A"/>
                </a:solidFill>
              </a:defRPr>
            </a:pPr>
            <a:r>
              <a:rPr sz="1050" b="1">
                <a:solidFill>
                  <a:srgbClr val="7A7A7A"/>
                </a:solidFill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E45EB5-7597-4804-A864-00C850DC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147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Deploy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6E5FD1-6CC1-406B-86AF-20C973EB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7195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A7A7A"/>
                </a:solidFill>
              </a:defRPr>
            </a:pPr>
            <a:r>
              <a:rPr sz="1050" b="0">
                <a:solidFill>
                  <a:srgbClr val="7A7A7A"/>
                </a:solidFill>
              </a:rPr>
              <a:t>Open a PR with repair files.</a:t>
            </a:r>
          </a:p>
        </p:txBody>
      </p:sp>
    </p:spTree>
    <p:extLst>
      <p:ext uri="{BB962C8B-B14F-4D97-AF65-F5344CB8AC3E}">
        <p14:creationId xmlns:p14="http://schemas.microsoft.com/office/powerpoint/2010/main" val="20455259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C0E37B-301A-4AF6-92E7-89A2C3B8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GhostFix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18D00-E1B6-4D6C-BC94-CC094731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7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A7A7A"/>
                </a:solidFill>
              </a:defRPr>
            </a:pPr>
            <a:r>
              <a:rPr sz="1050" b="1">
                <a:solidFill>
                  <a:srgbClr val="7A7A7A"/>
                </a:solidFill>
              </a:rPr>
              <a:t>BUILD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20325-91DC-4071-8EFD-4E331A36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7905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Technical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CC8FD-6B8E-4522-8885-18DCA350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A7A7A"/>
                </a:solidFill>
              </a:defRPr>
            </a:pPr>
            <a:r>
              <a:rPr sz="1500" b="0">
                <a:solidFill>
                  <a:srgbClr val="7A7A7A"/>
                </a:solidFill>
              </a:rPr>
              <a:t>A small pipeline that turns one brand URL into an explainable diagnosis and deployable fixes.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8E58B-6F4C-43FA-9660-64D92B9D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53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7A7A"/>
                </a:solidFill>
              </a:defRPr>
            </a:pPr>
            <a:r>
              <a:rPr sz="975" b="0">
                <a:solidFill>
                  <a:srgbClr val="7A7A7A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00299-BED9-46F7-8A74-D9C04CE1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30289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CE8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3B235-51BD-406B-AB34-F8E2BFA1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Brand URL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BEFAD-6D6A-4AAB-9691-2E0412D2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2400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A7A7A"/>
                </a:solidFill>
              </a:defRPr>
            </a:pPr>
            <a:r>
              <a:rPr sz="1125" b="0">
                <a:solidFill>
                  <a:srgbClr val="7A7A7A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389F3-E108-4606-9143-CEB97CEB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95600"/>
            <a:ext cx="30289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CE8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22095-B304-4288-86B6-981EA2F3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67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F2E7E-ACD3-4578-8934-72ADC6A3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90900"/>
            <a:ext cx="2400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A7A7A"/>
                </a:solidFill>
              </a:defRPr>
            </a:pPr>
            <a:r>
              <a:rPr sz="1125" b="0">
                <a:solidFill>
                  <a:srgbClr val="7A7A7A"/>
                </a:solidFill>
              </a:rPr>
              <a:t>Groq-first prompts + competitors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0E8E0D-7AF1-475E-A184-43582D43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95600"/>
            <a:ext cx="30289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CE8F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E8A3ED-59C7-478D-B745-42D4B798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Crawler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5AC71-1C4C-4C19-B603-A9FCC720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2400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A7A7A"/>
                </a:solidFill>
              </a:defRPr>
            </a:pPr>
            <a:r>
              <a:rPr sz="1125" b="0">
                <a:solidFill>
                  <a:srgbClr val="7A7A7A"/>
                </a:solidFill>
              </a:rPr>
              <a:t>Site signals + JSON-LD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C2962-CFF8-422A-9819-1971C093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30289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CE8F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97059-2641-4AD6-9457-FF63A777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GitHub PR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559554-BFB5-4970-AAD7-8E0F714E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2400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A7A7A"/>
                </a:solidFill>
              </a:defRPr>
            </a:pPr>
            <a:r>
              <a:rPr sz="1125" b="0">
                <a:solidFill>
                  <a:srgbClr val="7A7A7A"/>
                </a:solidFill>
              </a:rPr>
              <a:t>Review-gated deploy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062AF1-BFCE-4F90-8563-C86AFFBD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24350"/>
            <a:ext cx="30289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CE8F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ECACCB-85D5-4188-9DD9-8B4472BC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95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Repair 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731B5D-7E81-446F-B0A4-BE5F22A9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19650"/>
            <a:ext cx="2400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A7A7A"/>
                </a:solidFill>
              </a:defRPr>
            </a:pPr>
            <a:r>
              <a:rPr sz="1125" b="0">
                <a:solidFill>
                  <a:srgbClr val="7A7A7A"/>
                </a:solidFill>
              </a:rPr>
              <a:t>FAQ, comparison, schema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4D2F83-9366-41EB-90E0-7E3A0DC1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24350"/>
            <a:ext cx="30289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3335">
            <a:solidFill>
              <a:srgbClr val="FCE8F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91A363-583B-4097-9899-45BA5D62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95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Scoring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459412-86DE-40BF-818F-FC3C07F0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19650"/>
            <a:ext cx="2400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9D0E3"/>
                </a:solidFill>
              </a:defRPr>
            </a:pPr>
            <a:r>
              <a:rPr sz="1125" b="0">
                <a:solidFill>
                  <a:srgbClr val="F9D0E3"/>
                </a:solidFill>
              </a:rPr>
              <a:t>Explainable rubric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47B409-CFF1-4707-B39C-BDA708AB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324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B49492-A448-4F3A-869A-44353C47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324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4" name=""/>
          <p:cNvCxnSpPr>
            <a:stCxn xmlns:a="http://schemas.openxmlformats.org/drawingml/2006/main" id="24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3724275" y="33337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A8CB"/>
            </a:solidFill>
            <a:prstDash val="solid"/>
            <a:head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298897-1423-4049-910B-BB7F0C92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324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1B061C-B06C-4E07-A46C-5B1EC9F1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24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7" name=""/>
          <p:cNvCxnSpPr>
            <a:stCxn xmlns:a="http://schemas.openxmlformats.org/drawingml/2006/main" id="27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7400925" y="33337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A8CB"/>
            </a:solidFill>
            <a:prstDash val="solid"/>
            <a:head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E4DBDC-E7ED-4A7E-A8B0-2663D750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314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76BBB1-693A-424E-A026-04EE6460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7623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0" name=""/>
          <p:cNvCxnSpPr>
            <a:stCxn xmlns:a="http://schemas.openxmlformats.org/drawingml/2006/main" id="30" idx="0"/>
            <a:endCxn xmlns:a="http://schemas.openxmlformats.org/drawingml/2006/main" id="31" idx="2"/>
          </p:cNvCxnSpPr>
          <p:nvPr/>
        </p:nvCxnSpPr>
        <p:spPr>
          <a:xfrm xmlns:a="http://schemas.openxmlformats.org/drawingml/2006/main" flipV="1">
            <a:off x="9563100" y="3781425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A8CB"/>
            </a:solidFill>
            <a:prstDash val="solid"/>
            <a:head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22CBC4-776C-4DAF-90C8-D4E31802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752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FF5913-AFC3-470B-833F-85D7C755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752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3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7400925" y="47625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A8CB"/>
            </a:solidFill>
            <a:prstDash val="solid"/>
            <a:headEnd type="arrow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6060F9-D083-462A-90E7-32150207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52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FA8447-EF55-4714-BF07-207E0247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752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6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3724275" y="47625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4A8CB"/>
            </a:solidFill>
            <a:prstDash val="solid"/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1679614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7F55D0-B986-4C8A-A50B-107812AC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GhostFix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BA5F2-2DF9-4240-B8B5-654480F3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7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A7A7A"/>
                </a:solidFill>
              </a:defRPr>
            </a:pPr>
            <a:r>
              <a:rPr sz="1050" b="1">
                <a:solidFill>
                  <a:srgbClr val="7A7A7A"/>
                </a:solidFill>
              </a:rPr>
              <a:t>BUSINESS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BE6A2-52B9-48F9-98A8-04344145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7905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Business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DF4B4-322F-4CE4-9D63-70E60393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A7A7A"/>
                </a:solidFill>
              </a:defRPr>
            </a:pPr>
            <a:r>
              <a:rPr sz="1500" b="0">
                <a:solidFill>
                  <a:srgbClr val="7A7A7A"/>
                </a:solidFill>
              </a:rPr>
              <a:t>Subscription software for teams already paying for SEO, content, and performance marketing, but lacking AI-answer visibility.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A6EDC-3D2F-4224-8CE7-2797E8B4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53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7A7A"/>
                </a:solidFill>
              </a:defRPr>
            </a:pPr>
            <a:r>
              <a:rPr sz="975" b="0">
                <a:solidFill>
                  <a:srgbClr val="7A7A7A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40364-4687-4D96-987E-5DA38BAD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3200400" cy="21336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DF4F8"/>
          </a:solidFill>
          <a:ln xmlns:a="http://schemas.openxmlformats.org/drawingml/2006/main" w="13335">
            <a:solidFill>
              <a:srgbClr val="F9D0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5FB9D-8D29-4364-9A98-60EA7152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Target audience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BBB01-F702-4B2A-9B42-D89355EE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219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B2B SaaS</a:t>
            </a:r>
          </a:p>
          <a:p xmlns:a="http://schemas.openxmlformats.org/drawingml/2006/main">
            <a:pPr algn="l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Growth teams</a:t>
            </a:r>
          </a:p>
          <a:p xmlns:a="http://schemas.openxmlformats.org/drawingml/2006/main">
            <a:pPr algn="l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Content marketers</a:t>
            </a:r>
          </a:p>
          <a:p xmlns:a="http://schemas.openxmlformats.org/drawingml/2006/main">
            <a:pPr algn="l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Founders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BE5E3-7965-4DA9-AA38-32A90D02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28950"/>
            <a:ext cx="3200400" cy="21336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CE8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3DC49-E257-44B6-9C6D-3BF49D2A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33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Pricing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FD54F-11AA-499B-987F-A559D6C8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4810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D3D3D"/>
                </a:solidFill>
              </a:defRPr>
            </a:pPr>
            <a:r>
              <a:rPr sz="1575" b="0">
                <a:solidFill>
                  <a:srgbClr val="3D3D3D"/>
                </a:solidFill>
              </a:rPr>
              <a:t>Monthly subscription</a:t>
            </a:r>
          </a:p>
          <a:p xmlns:a="http://schemas.openxmlformats.org/drawingml/2006/main">
            <a:pPr algn="l">
              <a:defRPr sz="1575" b="0">
                <a:solidFill>
                  <a:srgbClr val="3D3D3D"/>
                </a:solidFill>
              </a:defRPr>
            </a:pPr>
            <a:r>
              <a:rPr sz="1575" b="0">
                <a:solidFill>
                  <a:srgbClr val="3D3D3D"/>
                </a:solidFill>
              </a:rPr>
              <a:t>Usage tiers by domains,</a:t>
            </a:r>
          </a:p>
          <a:p xmlns:a="http://schemas.openxmlformats.org/drawingml/2006/main">
            <a:pPr algn="l">
              <a:defRPr sz="1575" b="0">
                <a:solidFill>
                  <a:srgbClr val="3D3D3D"/>
                </a:solidFill>
              </a:defRPr>
            </a:pPr>
            <a:r>
              <a:rPr sz="1575" b="0">
                <a:solidFill>
                  <a:srgbClr val="3D3D3D"/>
                </a:solidFill>
              </a:rPr>
              <a:t>prompts, and repairs.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6C4C9-B3AB-4DF8-A997-7A0CB6E8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3200400" cy="21336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69BC4-5828-4440-88F0-D0188641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Expansion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577C5-BC82-4832-8054-EE900B3E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671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9D0E3"/>
                </a:solidFill>
              </a:defRPr>
            </a:pPr>
            <a:r>
              <a:rPr sz="1575" b="0">
                <a:solidFill>
                  <a:srgbClr val="F9D0E3"/>
                </a:solidFill>
              </a:rPr>
              <a:t>Monitoring</a:t>
            </a:r>
          </a:p>
          <a:p xmlns:a="http://schemas.openxmlformats.org/drawingml/2006/main">
            <a:pPr algn="l">
              <a:defRPr sz="1575" b="0">
                <a:solidFill>
                  <a:srgbClr val="F9D0E3"/>
                </a:solidFill>
              </a:defRPr>
            </a:pPr>
            <a:r>
              <a:rPr sz="1575" b="0">
                <a:solidFill>
                  <a:srgbClr val="F9D0E3"/>
                </a:solidFill>
              </a:rPr>
              <a:t>Team workflows</a:t>
            </a:r>
          </a:p>
          <a:p xmlns:a="http://schemas.openxmlformats.org/drawingml/2006/main">
            <a:pPr algn="l">
              <a:defRPr sz="1575" b="0">
                <a:solidFill>
                  <a:srgbClr val="F9D0E3"/>
                </a:solidFill>
              </a:defRPr>
            </a:pPr>
            <a:r>
              <a:rPr sz="1575" b="0">
                <a:solidFill>
                  <a:srgbClr val="F9D0E3"/>
                </a:solidFill>
              </a:rPr>
              <a:t>CMS/Git integrations</a:t>
            </a:r>
          </a:p>
        </p:txBody>
      </p:sp>
    </p:spTree>
    <p:extLst>
      <p:ext uri="{BB962C8B-B14F-4D97-AF65-F5344CB8AC3E}">
        <p14:creationId xmlns:p14="http://schemas.microsoft.com/office/powerpoint/2010/main" val="5631799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EFE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AE184B-6E7E-411C-9BB0-1CBA2DD1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GhostFix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E5669-2488-4560-BEFA-F3786CAC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7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A7A7A"/>
                </a:solidFill>
              </a:defRPr>
            </a:pPr>
            <a:r>
              <a:rPr sz="1050" b="1">
                <a:solidFill>
                  <a:srgbClr val="7A7A7A"/>
                </a:solidFill>
              </a:rPr>
              <a:t>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75871-BC8A-4652-A217-78A1667D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7905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Demo: from URL to repair PR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93BB3-3E50-4646-921F-482B5267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A7A7A"/>
                </a:solidFill>
              </a:defRPr>
            </a:pPr>
            <a:r>
              <a:rPr sz="1500" b="0">
                <a:solidFill>
                  <a:srgbClr val="7A7A7A"/>
                </a:solidFill>
              </a:rPr>
              <a:t>Show the product loop live: analyze a brand, inspect the competitor gap, generate fixes, and open a review-gated PR.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EA44F-2F81-4510-8CEF-E24B000E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53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7A7A"/>
                </a:solidFill>
              </a:defRPr>
            </a:pPr>
            <a:r>
              <a:rPr sz="975" b="0">
                <a:solidFill>
                  <a:srgbClr val="7A7A7A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E298A-F3CC-4984-8808-D93A3135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10363200" cy="27051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CE8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CC1DB-0BF8-425F-9EA2-9BB2FB89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97917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CE8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9ED99-B73F-45D9-8297-E943FF86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527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8CB"/>
          </a:solidFill>
          <a:ln xmlns:a="http://schemas.openxmlformats.org/drawingml/2006/main" w="13335">
            <a:solidFill>
              <a:srgbClr val="F4A8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A5B97-D7C1-4481-B97F-42898968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527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D0E3"/>
          </a:solidFill>
          <a:ln xmlns:a="http://schemas.openxmlformats.org/drawingml/2006/main" w="13335">
            <a:solidFill>
              <a:srgbClr val="F9D0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152F7-0097-4937-A239-F972043C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527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8F1"/>
          </a:solidFill>
          <a:ln xmlns:a="http://schemas.openxmlformats.org/drawingml/2006/main" w="13335">
            <a:solidFill>
              <a:srgbClr val="FCE8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C8409-11E2-4111-AE11-3E1D9756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85915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3335">
            <a:solidFill>
              <a:srgbClr val="EEEE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267742-2D17-4E55-BBFA-A73D4F50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623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A7A"/>
                </a:solidFill>
              </a:defRPr>
            </a:pPr>
            <a:r>
              <a:rPr sz="825" b="0">
                <a:solidFill>
                  <a:srgbClr val="7A7A7A"/>
                </a:solidFill>
              </a:rPr>
              <a:t>ghostfix.app/analyze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0E20F-7711-42E2-9D94-57A2DC79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48100"/>
            <a:ext cx="19621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3335">
            <a:solidFill>
              <a:srgbClr val="FCE8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18D9E-98FB-4BBE-AB96-27C68507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57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C635D-C010-4E18-961B-414952DA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052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3A001-7002-4ED1-A8F8-9EC8B30A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57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Enter brand URL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5824D5-E53C-429B-833F-D2F1A06C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577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7A7A"/>
                </a:solidFill>
              </a:defRPr>
            </a:pPr>
            <a:r>
              <a:rPr sz="975" b="0">
                <a:solidFill>
                  <a:srgbClr val="7A7A7A"/>
                </a:solidFill>
              </a:rPr>
              <a:t>GhostFix researches prompts and rivals.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64DBCC-3644-4014-91E2-FBF4BFE9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48100"/>
            <a:ext cx="19621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DF4F8"/>
          </a:solidFill>
          <a:ln xmlns:a="http://schemas.openxmlformats.org/drawingml/2006/main" w="13335">
            <a:solidFill>
              <a:srgbClr val="F4A8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5B334-89E1-4CFF-B037-9AD92404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57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4D8A"/>
          </a:solidFill>
          <a:ln xmlns:a="http://schemas.openxmlformats.org/drawingml/2006/main" w="13335">
            <a:solidFill>
              <a:srgbClr val="E04D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EC073B-F959-4F7B-9E7F-CFF41FAD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052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779A-A6D7-43CC-B34F-9CFB585D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57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Review diagnosis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A1B4F2-70EF-4D52-A63D-8AA13449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577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7A7A"/>
                </a:solidFill>
              </a:defRPr>
            </a:pPr>
            <a:r>
              <a:rPr sz="975" b="0">
                <a:solidFill>
                  <a:srgbClr val="7A7A7A"/>
                </a:solidFill>
              </a:rPr>
              <a:t>See why AI cites competitors.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15BCBC-2A62-4AB3-AE3C-E4A5ACEE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48100"/>
            <a:ext cx="19621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3335">
            <a:solidFill>
              <a:srgbClr val="FCE8F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9EE573-4760-49A0-BD37-CC593F2A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F9859E-D8DA-4AB3-BE20-D60B0C23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052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0CB0D7-8B10-4556-BA49-A462AEF3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57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Generate fixes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334F37-24C0-4399-931C-EF01925B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577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7A7A"/>
                </a:solidFill>
              </a:defRPr>
            </a:pPr>
            <a:r>
              <a:rPr sz="975" b="0">
                <a:solidFill>
                  <a:srgbClr val="7A7A7A"/>
                </a:solidFill>
              </a:rPr>
              <a:t>FAQ, comparison, and schema drafts.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DC38D8-401F-4953-B583-0444D5B6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48100"/>
            <a:ext cx="19621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3335">
            <a:solidFill>
              <a:srgbClr val="FCE8F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93E4B8-21F7-4D05-930B-29BE0965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576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641BC4-1C3B-459B-8A28-AE0B7E46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052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C98DC6-7A0D-4DE9-A836-1AC85BB0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Open PR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2515B7-A497-4772-A1A4-0485E93F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577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7A7A"/>
                </a:solidFill>
              </a:defRPr>
            </a:pPr>
            <a:r>
              <a:rPr sz="975" b="0">
                <a:solidFill>
                  <a:srgbClr val="7A7A7A"/>
                </a:solidFill>
              </a:rPr>
              <a:t>Approve before anything ships.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C8FAB1-B45A-4977-84FC-8377431E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531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Close: AI visibility is becoming a measurable, repairable workflow.</a:t>
            </a:r>
          </a:p>
        </p:txBody>
      </p:sp>
    </p:spTree>
    <p:extLst>
      <p:ext uri="{BB962C8B-B14F-4D97-AF65-F5344CB8AC3E}">
        <p14:creationId xmlns:p14="http://schemas.microsoft.com/office/powerpoint/2010/main" val="9937157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2026-06-27T08:02:54.2450000Z</dcterms:created>
  <dcterms:modified xsi:type="dcterms:W3CDTF">2026-06-27T08:02:54.2450000Z</dcterms:modified>
</coreProperties>
</file>