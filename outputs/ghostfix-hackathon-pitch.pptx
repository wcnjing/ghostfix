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356d71564842b9" /><Relationship Type="http://schemas.openxmlformats.org/officeDocument/2006/relationships/extended-properties" Target="/docProps/app.xml" Id="R5248e4899f0b4242" /><Relationship Type="http://schemas.openxmlformats.org/officeDocument/2006/relationships/officeDocument" Target="/ppt/presentation.xml" Id="R3186aaa9c7a740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57e0e025e84903"/>
  </p:sldMasterIdLst>
  <p:notesMasterIdLst>
    <p:notesMasterId xmlns:r="http://schemas.openxmlformats.org/officeDocument/2006/relationships" r:id="Rb5befbe82065474a"/>
  </p:notesMasterIdLst>
  <p:sldIdLst>
    <p:sldId xmlns:r="http://schemas.openxmlformats.org/officeDocument/2006/relationships" id="256" r:id="R4493a3f09ba34a72"/>
    <p:sldId xmlns:r="http://schemas.openxmlformats.org/officeDocument/2006/relationships" id="257" r:id="R554763fb55224ff9"/>
    <p:sldId xmlns:r="http://schemas.openxmlformats.org/officeDocument/2006/relationships" id="258" r:id="Rb561ca399f354326"/>
    <p:sldId xmlns:r="http://schemas.openxmlformats.org/officeDocument/2006/relationships" id="259" r:id="Rad2b812153d54b11"/>
    <p:sldId xmlns:r="http://schemas.openxmlformats.org/officeDocument/2006/relationships" id="260" r:id="Rb64c35e8e131482d"/>
    <p:sldId xmlns:r="http://schemas.openxmlformats.org/officeDocument/2006/relationships" id="261" r:id="Rbe4a658b120c4dc6"/>
    <p:sldId xmlns:r="http://schemas.openxmlformats.org/officeDocument/2006/relationships" id="262" r:id="R285df798ebc54077"/>
    <p:sldId xmlns:r="http://schemas.openxmlformats.org/officeDocument/2006/relationships" id="263" r:id="R9c1dc9faa09f4cd7"/>
    <p:sldId xmlns:r="http://schemas.openxmlformats.org/officeDocument/2006/relationships" id="264" r:id="Rba0973c6b1704e9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b75158ea36422a" /><Relationship Type="http://schemas.openxmlformats.org/officeDocument/2006/relationships/slideMaster" Target="/ppt/slideMasters/slideMaster1.xml" Id="R4257e0e025e84903" /><Relationship Type="http://schemas.openxmlformats.org/officeDocument/2006/relationships/notesMaster" Target="/ppt/notesMasters/notesMaster1.xml" Id="Rb5befbe82065474a" /><Relationship Type="http://schemas.openxmlformats.org/officeDocument/2006/relationships/presProps" Target="/ppt/presProps.xml" Id="R839e25314dd040b5" /><Relationship Type="http://schemas.openxmlformats.org/officeDocument/2006/relationships/tableStyles" Target="/ppt/tableStyles.xml" Id="Ra22d0261bde44872" /><Relationship Type="http://schemas.openxmlformats.org/officeDocument/2006/relationships/slide" Target="/ppt/slides/slide1.xml" Id="R4493a3f09ba34a72" /><Relationship Type="http://schemas.openxmlformats.org/officeDocument/2006/relationships/slide" Target="/ppt/slides/slide2.xml" Id="R554763fb55224ff9" /><Relationship Type="http://schemas.openxmlformats.org/officeDocument/2006/relationships/slide" Target="/ppt/slides/slide3.xml" Id="Rb561ca399f354326" /><Relationship Type="http://schemas.openxmlformats.org/officeDocument/2006/relationships/slide" Target="/ppt/slides/slide4.xml" Id="Rad2b812153d54b11" /><Relationship Type="http://schemas.openxmlformats.org/officeDocument/2006/relationships/slide" Target="/ppt/slides/slide5.xml" Id="Rb64c35e8e131482d" /><Relationship Type="http://schemas.openxmlformats.org/officeDocument/2006/relationships/slide" Target="/ppt/slides/slide6.xml" Id="Rbe4a658b120c4dc6" /><Relationship Type="http://schemas.openxmlformats.org/officeDocument/2006/relationships/slide" Target="/ppt/slides/slide7.xml" Id="R285df798ebc54077" /><Relationship Type="http://schemas.openxmlformats.org/officeDocument/2006/relationships/slide" Target="/ppt/slides/slide8.xml" Id="R9c1dc9faa09f4cd7" /><Relationship Type="http://schemas.openxmlformats.org/officeDocument/2006/relationships/slide" Target="/ppt/slides/slide9.xml" Id="Rba0973c6b1704e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0a36f224a94d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29c2840bb746d3" /><Relationship Type="http://schemas.openxmlformats.org/officeDocument/2006/relationships/notesMaster" Target="/ppt/notesMasters/notesMaster1.xml" Id="R379e431964b24a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e47880162e4eb8" /><Relationship Type="http://schemas.openxmlformats.org/officeDocument/2006/relationships/notesMaster" Target="/ppt/notesMasters/notesMaster1.xml" Id="R33a12922c9fd4a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6194dcd01c46bc" /><Relationship Type="http://schemas.openxmlformats.org/officeDocument/2006/relationships/notesMaster" Target="/ppt/notesMasters/notesMaster1.xml" Id="R85f1a1b0466d43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f77833ae7d4a91" /><Relationship Type="http://schemas.openxmlformats.org/officeDocument/2006/relationships/notesMaster" Target="/ppt/notesMasters/notesMaster1.xml" Id="R51fb94ee4cd940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eb05a78349c4ca8" /><Relationship Type="http://schemas.openxmlformats.org/officeDocument/2006/relationships/notesMaster" Target="/ppt/notesMasters/notesMaster1.xml" Id="R9926833efaa84d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9fe4435fd54810" /><Relationship Type="http://schemas.openxmlformats.org/officeDocument/2006/relationships/notesMaster" Target="/ppt/notesMasters/notesMaster1.xml" Id="R98bd7140956a45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50e44683464759" /><Relationship Type="http://schemas.openxmlformats.org/officeDocument/2006/relationships/notesMaster" Target="/ppt/notesMasters/notesMaster1.xml" Id="R1b66f29bd33e460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ea0f1180a94015" /><Relationship Type="http://schemas.openxmlformats.org/officeDocument/2006/relationships/notesMaster" Target="/ppt/notesMasters/notesMaster1.xml" Id="Ra920a799c93243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0b27c8d276400b" /><Relationship Type="http://schemas.openxmlformats.org/officeDocument/2006/relationships/notesMaster" Target="/ppt/notesMasters/notesMaster1.xml" Id="Re20d35d04f35432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10ed0d4d284b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074aa652784bd3" /><Relationship Type="http://schemas.openxmlformats.org/officeDocument/2006/relationships/slideLayout" Target="/ppt/slideLayouts/slideLayout1.xml" Id="R1a5e433fd6be46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5e433fd6be46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b6bfc395d844ea" /><Relationship Type="http://schemas.openxmlformats.org/officeDocument/2006/relationships/notesSlide" Target="/ppt/notesSlides/notesSlide1.xml" Id="R0610aa16156443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2d8724da89417b" /><Relationship Type="http://schemas.openxmlformats.org/officeDocument/2006/relationships/notesSlide" Target="/ppt/notesSlides/notesSlide2.xml" Id="Rd00ab51ca7fd47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ff81c4ec64fbe" /><Relationship Type="http://schemas.openxmlformats.org/officeDocument/2006/relationships/notesSlide" Target="/ppt/notesSlides/notesSlide3.xml" Id="Rdf58e3ceae664f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922519d534865" /><Relationship Type="http://schemas.openxmlformats.org/officeDocument/2006/relationships/notesSlide" Target="/ppt/notesSlides/notesSlide4.xml" Id="Rf2bee5ededd549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0556145d047c2" /><Relationship Type="http://schemas.openxmlformats.org/officeDocument/2006/relationships/notesSlide" Target="/ppt/notesSlides/notesSlide5.xml" Id="R287786ff80e042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01f6a85bd24695" /><Relationship Type="http://schemas.openxmlformats.org/officeDocument/2006/relationships/notesSlide" Target="/ppt/notesSlides/notesSlide6.xml" Id="R85f60f7da21b41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6bdbe766fc4c23" /><Relationship Type="http://schemas.openxmlformats.org/officeDocument/2006/relationships/notesSlide" Target="/ppt/notesSlides/notesSlide7.xml" Id="Re8c07b83338e4d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25449d49a427f" /><Relationship Type="http://schemas.openxmlformats.org/officeDocument/2006/relationships/notesSlide" Target="/ppt/notesSlides/notesSlide8.xml" Id="R983121957cb246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28f1c1dc3e4b1f" /><Relationship Type="http://schemas.openxmlformats.org/officeDocument/2006/relationships/notesSlide" Target="/ppt/notesSlides/notesSlide9.xml" Id="Rdb957cb15d3140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483610-C3B9-4C57-832F-FB1AC013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BB5C1B-FFCD-4D1B-A656-BBA15BB4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685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111"/>
                </a:solidFill>
              </a:defRPr>
            </a:pPr>
            <a:r>
              <a:rPr sz="465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EB4F15-F1F0-4B88-92DA-AD97F7C8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D3D3D"/>
                </a:solidFill>
              </a:defRPr>
            </a:pPr>
            <a:r>
              <a:rPr sz="1950" b="0">
                <a:solidFill>
                  <a:srgbClr val="3D3D3D"/>
                </a:solidFill>
              </a:rPr>
              <a:t>AI visibility diagnosis and repair for brands losing citations to competitors.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166BEF-1E92-48F0-84F6-5FE50D25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4D8A"/>
          </a:solidFill>
          <a:ln xmlns:a="http://schemas.openxmlformats.org/drawingml/2006/main" w="13335">
            <a:solidFill>
              <a:srgbClr val="E04D8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B9ABF-8671-46C9-B925-0CF952A7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33775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HACKATHON PITCH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14779-9FC3-4C5C-A086-527D9DA08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257300"/>
            <a:ext cx="3676650" cy="3733800"/>
          </a:xfrm>
          <a:prstGeom xmlns:a="http://schemas.openxmlformats.org/drawingml/2006/main" prst="roundRect">
            <a:avLst>
              <a:gd name="adj" fmla="val 41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2EC2E-1604-4671-89AF-4C19CFB7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85900"/>
            <a:ext cx="32194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4CF04-6992-47B4-92D7-4E811F07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6478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A8CB"/>
          </a:solidFill>
          <a:ln xmlns:a="http://schemas.openxmlformats.org/drawingml/2006/main" w="13335">
            <a:solidFill>
              <a:srgbClr val="F4A8C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8980F9-2D63-49C3-8A7D-17E584B3D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478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D0E3"/>
          </a:solidFill>
          <a:ln xmlns:a="http://schemas.openxmlformats.org/drawingml/2006/main" w="13335">
            <a:solidFill>
              <a:srgbClr val="F9D0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C5B62B-E817-4F5B-B12A-017BB4E7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478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8F1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80105B-BD5E-495B-BE9E-D4429004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00200"/>
            <a:ext cx="2019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13335">
            <a:solidFill>
              <a:srgbClr val="EEEEE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0A2142-56C6-4E9F-8DF0-9DA8A2CA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5735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7A7A"/>
                </a:solidFill>
              </a:defRPr>
            </a:pPr>
            <a:r>
              <a:rPr sz="825" b="0">
                <a:solidFill>
                  <a:srgbClr val="7A7A7A"/>
                </a:solidFill>
              </a:rPr>
              <a:t>ghostfix.app/analyze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8A6167-8183-429B-ADB9-EADC1BEC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66950"/>
            <a:ext cx="1047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4D8A"/>
          </a:solidFill>
          <a:ln xmlns:a="http://schemas.openxmlformats.org/drawingml/2006/main" w="13335">
            <a:solidFill>
              <a:srgbClr val="E04D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C6ED5-FAC5-4E9B-ABA3-0E923868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14575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0AE072-B6BF-4357-B670-D0E19156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194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A7A7A"/>
                </a:solidFill>
              </a:defRPr>
            </a:pPr>
            <a:r>
              <a:rPr sz="1350" b="1">
                <a:solidFill>
                  <a:srgbClr val="7A7A7A"/>
                </a:solidFill>
              </a:rPr>
              <a:t>AI visibility score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C1F089-6637-4982-9E86-D3670AE5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1104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E5906D-6D05-4D05-868F-3F397D44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337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7A7A7A"/>
                </a:solidFill>
              </a:defRPr>
            </a:pPr>
            <a:r>
              <a:rPr sz="1725" b="1">
                <a:solidFill>
                  <a:srgbClr val="7A7A7A"/>
                </a:solidFill>
              </a:rPr>
              <a:t>/100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B2F9C8-FD49-4B5C-B00D-669AE4D7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62400"/>
            <a:ext cx="27813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9D0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C8F16E-A57C-4BD8-8434-6B9DACD46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1480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D3D3D"/>
                </a:solidFill>
              </a:defRPr>
            </a:pPr>
            <a:r>
              <a:rPr sz="1125" b="0">
                <a:solidFill>
                  <a:srgbClr val="3D3D3D"/>
                </a:solidFill>
              </a:rPr>
              <a:t>vs. competitor citations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401A2B-476E-4A62-8837-6DE4F88D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445490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BE5547-A4D3-451D-BA7A-982095A9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91F88-580B-42F5-B6C4-B23282A9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A6CC05-E3FC-4548-90B2-8742291F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905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Search behavior changed. Tooling did not.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62F7B5-EB66-4292-9C3E-74211660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A7A7A"/>
                </a:solidFill>
              </a:defRPr>
            </a:pPr>
            <a:r>
              <a:rPr sz="1500" b="0">
                <a:solidFill>
                  <a:srgbClr val="7A7A7A"/>
                </a:solidFill>
              </a:rPr>
              <a:t>Companies optimized content for search links. Buyers now ask AI assistants for answers.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7126C-B38E-499B-9C66-E3B776B1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3ECB13-2D8F-45ED-BEAC-19090B61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3048000" cy="1828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9D0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7BF916-A30A-4694-B30E-E4D30DCA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623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D54C3A-FE28-4963-9825-97FEC44E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76650"/>
            <a:ext cx="228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D3D3D"/>
                </a:solidFill>
              </a:defRPr>
            </a:pPr>
            <a:r>
              <a:rPr sz="1875" b="0">
                <a:solidFill>
                  <a:srgbClr val="3D3D3D"/>
                </a:solidFill>
              </a:rPr>
              <a:t>Rank pages.</a:t>
            </a:r>
          </a:p>
          <a:p xmlns:a="http://schemas.openxmlformats.org/drawingml/2006/main">
            <a:pPr algn="l">
              <a:defRPr sz="1875" b="0">
                <a:solidFill>
                  <a:srgbClr val="3D3D3D"/>
                </a:solidFill>
              </a:defRPr>
            </a:pPr>
            <a:r>
              <a:rPr sz="1875" b="0">
                <a:solidFill>
                  <a:srgbClr val="3D3D3D"/>
                </a:solidFill>
              </a:rPr>
              <a:t>Win clicks.</a:t>
            </a:r>
          </a:p>
          <a:p xmlns:a="http://schemas.openxmlformats.org/drawingml/2006/main">
            <a:pPr algn="l">
              <a:defRPr sz="1875" b="0">
                <a:solidFill>
                  <a:srgbClr val="3D3D3D"/>
                </a:solidFill>
              </a:defRPr>
            </a:pPr>
            <a:r>
              <a:rPr sz="1875" b="0">
                <a:solidFill>
                  <a:srgbClr val="3D3D3D"/>
                </a:solidFill>
              </a:rPr>
              <a:t>Optimize snippets.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0060C2-98F5-4465-8797-E42C8FE9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7814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E0BCAE-9A27-45F2-B57F-5FEBD5DE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7814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8" name=""/>
          <p:cNvCxnSpPr>
            <a:stCxn xmlns:a="http://schemas.openxmlformats.org/drawingml/2006/main" id="9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4124325" y="3790950"/>
            <a:ext cx="933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1E70EA-9BF9-496B-874D-02822073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71750"/>
            <a:ext cx="3486150" cy="2438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9D0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64C9A2-FEA3-4C4B-B171-DE1C2DD7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876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Now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B73EE9-551C-4FF4-AEC1-045D8E84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3147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7A7A7A"/>
                </a:solidFill>
              </a:defRPr>
            </a:pPr>
            <a:r>
              <a:rPr sz="1575" b="0">
                <a:solidFill>
                  <a:srgbClr val="7A7A7A"/>
                </a:solidFill>
              </a:rPr>
              <a:t>Users ask AI: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188EB8-EEB4-4761-9861-BEE35A35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52850"/>
            <a:ext cx="27813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D3D3D"/>
                </a:solidFill>
              </a:defRPr>
            </a:pPr>
            <a:r>
              <a:rPr sz="1725" b="0">
                <a:solidFill>
                  <a:srgbClr val="3D3D3D"/>
                </a:solidFill>
              </a:rPr>
              <a:t>“Best CRM for startups”</a:t>
            </a:r>
          </a:p>
          <a:p xmlns:a="http://schemas.openxmlformats.org/drawingml/2006/main">
            <a:pPr algn="l">
              <a:defRPr sz="1725" b="0">
                <a:solidFill>
                  <a:srgbClr val="3D3D3D"/>
                </a:solidFill>
              </a:defRPr>
            </a:pPr>
            <a:r>
              <a:rPr sz="1725" b="0">
                <a:solidFill>
                  <a:srgbClr val="3D3D3D"/>
                </a:solidFill>
              </a:rPr>
              <a:t>“Compare analytics tools”</a:t>
            </a:r>
          </a:p>
          <a:p xmlns:a="http://schemas.openxmlformats.org/drawingml/2006/main">
            <a:pPr algn="l">
              <a:defRPr sz="1725" b="0">
                <a:solidFill>
                  <a:srgbClr val="3D3D3D"/>
                </a:solidFill>
              </a:defRPr>
            </a:pPr>
            <a:r>
              <a:rPr sz="1725" b="0">
                <a:solidFill>
                  <a:srgbClr val="3D3D3D"/>
                </a:solidFill>
              </a:rPr>
              <a:t>“What email API should I use?”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C25CE1-AE36-4E81-B1B3-2A2919C31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76550"/>
            <a:ext cx="1905000" cy="19621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11111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F4FA8A-21FF-4DBB-AD04-89543464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57550"/>
            <a:ext cx="13906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AI selects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who gets</a:t>
            </a:r>
          </a:p>
          <a:p xmlns:a="http://schemas.openxmlformats.org/drawingml/2006/main">
            <a:pPr algn="l"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cited.</a:t>
            </a:r>
          </a:p>
        </p:txBody>
      </p:sp>
    </p:spTree>
    <p:extLst>
      <p:ext uri="{BB962C8B-B14F-4D97-AF65-F5344CB8AC3E}">
        <p14:creationId xmlns:p14="http://schemas.microsoft.com/office/powerpoint/2010/main" val="18725478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B3BA03-B79C-4574-B5EE-7388A21D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3B6815-BB26-4AA6-B2E9-0B9EB551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WHY NOW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F1F7D0-18F3-4A4A-82B1-29E27C90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905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Losing the answer means losing the buyer.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ABF5FD-B0E1-4B75-9CEB-1B0CA32C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A7A7A"/>
                </a:solidFill>
              </a:defRPr>
            </a:pPr>
            <a:r>
              <a:rPr sz="1500" b="0">
                <a:solidFill>
                  <a:srgbClr val="7A7A7A"/>
                </a:solidFill>
              </a:rPr>
              <a:t>AI systems generate answers and cite selected sources. Brands outside the answer lose the moment of discovery.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7A43A-2CBD-4D63-A5A5-0B7E7689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AB929-D03F-4C73-8D56-D740B633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52750"/>
            <a:ext cx="47625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1795C8-04D6-4983-9ED4-DF09D348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Reduced discovery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F638F2-DA9A-43CD-933B-379364AE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052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A7A7A"/>
                </a:solidFill>
              </a:defRPr>
            </a:pPr>
            <a:r>
              <a:rPr sz="1200" b="0">
                <a:solidFill>
                  <a:srgbClr val="7A7A7A"/>
                </a:solidFill>
              </a:rPr>
              <a:t>Fewer buyers ever reach the site.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A35829-078E-4034-BAD6-2D768B6F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52750"/>
            <a:ext cx="47625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903594-53E0-4DB8-B516-344AA4C8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623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Declining inbound traffic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F03A09-D2B0-4EE4-BA6F-1F9FD36A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052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A7A7A"/>
                </a:solidFill>
              </a:defRPr>
            </a:pPr>
            <a:r>
              <a:rPr sz="1200" b="0">
                <a:solidFill>
                  <a:srgbClr val="7A7A7A"/>
                </a:solidFill>
              </a:rPr>
              <a:t>Traditional SEO visibility no longer maps to AI answers.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B62A1F-1B14-42C0-B6BF-C8798896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47625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F62B40-8484-4663-830A-82FD13FB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339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Lower conversion opportunities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8F7E22-FB1A-461A-A95E-4791BC35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A7A7A"/>
                </a:solidFill>
              </a:defRPr>
            </a:pPr>
            <a:r>
              <a:rPr sz="1200" b="0">
                <a:solidFill>
                  <a:srgbClr val="7A7A7A"/>
                </a:solidFill>
              </a:rPr>
              <a:t>Competitors frame the shortlist before the user clicks.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9F80B1-DC3B-443B-AD7C-21672AFB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24350"/>
            <a:ext cx="47625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B1F5B9-A221-46B0-8846-C4D29E32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339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No explanation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ACF66E-0058-48E0-9D93-EC0BE9BD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76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A7A7A"/>
                </a:solidFill>
              </a:defRPr>
            </a:pPr>
            <a:r>
              <a:rPr sz="1200" b="0">
                <a:solidFill>
                  <a:srgbClr val="7A7A7A"/>
                </a:solidFill>
              </a:rPr>
              <a:t>Teams cannot see why rivals are referenced instead.</a:t>
            </a:r>
          </a:p>
        </p:txBody>
      </p:sp>
    </p:spTree>
    <p:extLst>
      <p:ext uri="{BB962C8B-B14F-4D97-AF65-F5344CB8AC3E}">
        <p14:creationId xmlns:p14="http://schemas.microsoft.com/office/powerpoint/2010/main" val="9625864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C83BC3-87A4-4F92-AA85-EEB5E3F2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A822C6-4260-4F05-A552-23BF2F9C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SOLUTION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B57C8-B8F5-4CD5-969B-51D8D284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905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GhostFix explains why competitors win AI citations.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82E23B-56B0-4C70-B9D0-64DCA861C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A7A7A"/>
                </a:solidFill>
              </a:defRPr>
            </a:pPr>
            <a:r>
              <a:rPr sz="1500" b="0">
                <a:solidFill>
                  <a:srgbClr val="7A7A7A"/>
                </a:solidFill>
              </a:rPr>
              <a:t>Then it turns the diagnosis into fixes teams can review, approve, and deploy.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6CBFA8-68D3-4277-B92D-488AFDCE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7A220A-648B-4FFC-B3EB-C894AD9F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49149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7857E-41F8-4491-A042-C3EC022B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86100"/>
            <a:ext cx="10668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4D8A"/>
          </a:solidFill>
          <a:ln xmlns:a="http://schemas.openxmlformats.org/drawingml/2006/main" w="13335">
            <a:solidFill>
              <a:srgbClr val="E04D8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8D0C20-3E36-490F-BEB6-88AA5BD1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3372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DIAGNOSIS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E1D231-14AF-4EE2-82F5-28683451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0045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Compares your site against the rival AI recommends.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EAAD00-250F-413A-B740-64CEA681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3848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A7A7A"/>
                </a:solidFill>
              </a:defRPr>
            </a:pPr>
            <a:r>
              <a:rPr sz="1275" b="0">
                <a:solidFill>
                  <a:srgbClr val="7A7A7A"/>
                </a:solidFill>
              </a:rPr>
              <a:t>Finds citation gaps across answer share, content coverage, structured data, evidence density, freshness, and trust.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A3031A-3FA3-45D4-B0DB-61ACDF6C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81300"/>
            <a:ext cx="49149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11111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4D4777-CAA4-4DB2-B05B-5FF9743A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6100"/>
            <a:ext cx="819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831CD5-9C6D-48A5-B9AB-4EF9AF61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3725"/>
            <a:ext cx="819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</a:defRPr>
            </a:pPr>
            <a:r>
              <a:rPr sz="975" b="1">
                <a:solidFill>
                  <a:srgbClr val="111111"/>
                </a:solidFill>
              </a:rPr>
              <a:t>REPAIR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6B0471-D842-430B-92C2-DCCFAF52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00450"/>
            <a:ext cx="390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Generates content and schema drafts ready for human review.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135ABD-7E7F-46D1-9E6B-D0105848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00550"/>
            <a:ext cx="3657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9D0E3"/>
                </a:solidFill>
              </a:defRPr>
            </a:pPr>
            <a:r>
              <a:rPr sz="1275" b="0">
                <a:solidFill>
                  <a:srgbClr val="F9D0E3"/>
                </a:solidFill>
              </a:rPr>
              <a:t>FAQ, comparison page, JSON-LD, and PR-ready deployment artifacts.</a:t>
            </a:r>
          </a:p>
        </p:txBody>
      </p:sp>
    </p:spTree>
    <p:extLst>
      <p:ext uri="{BB962C8B-B14F-4D97-AF65-F5344CB8AC3E}">
        <p14:creationId xmlns:p14="http://schemas.microsoft.com/office/powerpoint/2010/main" val="3455325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9D7DC4-99AD-4FF9-B024-D6EC8C0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EA61F-0BDC-427C-B564-605EEA43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PRODUCT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BA053-B65C-4076-AD65-12C7F2F9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905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The GhostFix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3E8C6E-4440-4401-AA96-5FE9CC23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A7A7A"/>
                </a:solidFill>
              </a:defRPr>
            </a:pPr>
            <a:r>
              <a:rPr sz="1500" b="0">
                <a:solidFill>
                  <a:srgbClr val="7A7A7A"/>
                </a:solidFill>
              </a:rPr>
              <a:t>Observe → Explain → Recommend → Approve → Deploy, with review and control built 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EC45E2-0A04-44AC-A057-4B6165DE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2B7C12-80F3-4565-966D-A0216DB8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62300"/>
            <a:ext cx="1790700" cy="148590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781EFF-8674-498C-A4AD-357B4257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09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EA390-C69D-4EFD-AEAD-77ECF7D8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Observe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8F340-557B-46C2-9478-CBC986E8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719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7A7A7A"/>
                </a:solidFill>
              </a:defRPr>
            </a:pPr>
            <a:r>
              <a:rPr sz="1050" b="0">
                <a:solidFill>
                  <a:srgbClr val="7A7A7A"/>
                </a:solidFill>
              </a:rPr>
              <a:t>Collect prompts, citations, competitors.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8576E2-4EA9-477F-88F0-28D0C057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8957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312F5B-BE0F-4947-9EFA-FA0D6E85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8957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49" name=""/>
          <p:cNvCxnSpPr>
            <a:stCxn xmlns:a="http://schemas.openxmlformats.org/drawingml/2006/main" id="10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2505075" y="39052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3C711D-390C-4E3E-AF85-4B3C4703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62300"/>
            <a:ext cx="1790700" cy="148590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8D3158-3A80-4C0A-B5FF-02A4F9EB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09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CAFBC7-601F-413B-A536-7AD40005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7147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Explain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2F7D6D-731D-4A3E-B2B1-6C328B1E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719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7A7A7A"/>
                </a:solidFill>
              </a:defRPr>
            </a:pPr>
            <a:r>
              <a:rPr sz="1050" b="0">
                <a:solidFill>
                  <a:srgbClr val="7A7A7A"/>
                </a:solidFill>
              </a:rPr>
              <a:t>Score the gaps and show why.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8E4950-D4F8-4222-84ED-6CFFFC27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38957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0D4581-4C07-480E-8CC1-2B315CAF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957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56" name=""/>
          <p:cNvCxnSpPr>
            <a:stCxn xmlns:a="http://schemas.openxmlformats.org/drawingml/2006/main" id="17" idx="1"/>
            <a:endCxn xmlns:a="http://schemas.openxmlformats.org/drawingml/2006/main" id="18" idx="3"/>
          </p:cNvCxnSpPr>
          <p:nvPr/>
        </p:nvCxnSpPr>
        <p:spPr>
          <a:xfrm xmlns:a="http://schemas.openxmlformats.org/drawingml/2006/main" flipH="1">
            <a:off x="4638675" y="39052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947400-87E0-4BC9-8365-CBC5D10A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62300"/>
            <a:ext cx="1790700" cy="148590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4A8C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2DE3ED-186A-4B67-B424-7D415B85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409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3D61A-DA95-4501-BAA3-D020D9EE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147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</a:defRPr>
            </a:pPr>
            <a:r>
              <a:rPr sz="1425" b="1">
                <a:solidFill>
                  <a:srgbClr val="111111"/>
                </a:solidFill>
              </a:rPr>
              <a:t>Recommend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C11474-5C29-4B17-9C54-49D0D20D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719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7A7A7A"/>
                </a:solidFill>
              </a:defRPr>
            </a:pPr>
            <a:r>
              <a:rPr sz="1050" b="0">
                <a:solidFill>
                  <a:srgbClr val="7A7A7A"/>
                </a:solidFill>
              </a:rPr>
              <a:t>Draft fixes tied to issues.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22273E-8E38-487F-9FC7-4CD608A8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8957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77DC7E-D777-482B-ACC1-1DCE7000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8957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3" name=""/>
          <p:cNvCxnSpPr>
            <a:stCxn xmlns:a="http://schemas.openxmlformats.org/drawingml/2006/main" id="24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6772275" y="39052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BA4B73-66F8-4E06-8FFB-FA912B6B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62300"/>
            <a:ext cx="1790700" cy="148590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974CE5-9FB5-48BD-ABF6-99B185C2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09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4AF623-B7CA-476C-8361-D535D1B4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7147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Approve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CF3EE1-B9AF-4A76-9DBD-B09DF86F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7A7A7A"/>
                </a:solidFill>
              </a:defRPr>
            </a:pPr>
            <a:r>
              <a:rPr sz="1050" b="0">
                <a:solidFill>
                  <a:srgbClr val="7A7A7A"/>
                </a:solidFill>
              </a:rPr>
              <a:t>Human review stays in the loop.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A5A7A3-5EBE-411D-91B1-9338E6552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8957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A09338-969D-4CC4-9EB9-03B91358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8957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0" name=""/>
          <p:cNvCxnSpPr>
            <a:stCxn xmlns:a="http://schemas.openxmlformats.org/drawingml/2006/main" id="31" idx="1"/>
            <a:endCxn xmlns:a="http://schemas.openxmlformats.org/drawingml/2006/main" id="32" idx="3"/>
          </p:cNvCxnSpPr>
          <p:nvPr/>
        </p:nvCxnSpPr>
        <p:spPr>
          <a:xfrm xmlns:a="http://schemas.openxmlformats.org/drawingml/2006/main" flipH="1">
            <a:off x="8905875" y="39052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BBA8D1-3445-47A5-B75C-0744CB1E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1790700" cy="148590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3C834-D22A-4EC8-B0E5-02C9DB4A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09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05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90DA53-209C-4E8A-9666-1B685D73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147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Deploy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858B43-E6D1-4F4C-AD0C-48D16BB4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1719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7A7A7A"/>
                </a:solidFill>
              </a:defRPr>
            </a:pPr>
            <a:r>
              <a:rPr sz="1050" b="0">
                <a:solidFill>
                  <a:srgbClr val="7A7A7A"/>
                </a:solidFill>
              </a:rPr>
              <a:t>Open a PR with repair files.</a:t>
            </a:r>
          </a:p>
        </p:txBody>
      </p:sp>
    </p:spTree>
    <p:extLst>
      <p:ext uri="{BB962C8B-B14F-4D97-AF65-F5344CB8AC3E}">
        <p14:creationId xmlns:p14="http://schemas.microsoft.com/office/powerpoint/2010/main" val="7286855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A789C9-DA1B-4667-BAC9-DE8C2437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E64FD9-A823-4B2F-AE13-BDCB4B8C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BUILD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28DECF-D1C9-4436-867D-01667001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905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Technical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2795E-F569-406D-B506-38944DB7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A7A7A"/>
                </a:solidFill>
              </a:defRPr>
            </a:pPr>
            <a:r>
              <a:rPr sz="1500" b="0">
                <a:solidFill>
                  <a:srgbClr val="7A7A7A"/>
                </a:solidFill>
              </a:rPr>
              <a:t>A small pipeline that turns one brand URL into an explainable diagnosis and deployable fixes.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EABE5-0758-4014-8313-74D5F6D0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7060D2-9EF4-4A26-826D-60E51B71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30289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AED1F-3E17-4CF6-BE67-1B419AE3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67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Brand URL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7D25F3-4A66-4800-963B-F95BDE7B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9BD84C-50ED-4F62-9EFC-1F687DE9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95600"/>
            <a:ext cx="30289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C715C5-C44A-44D3-8DC5-D96D3DA0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67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D2C78-E3E7-4FD2-A797-7E607625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390900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Groq-first prompts + competitors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CF9F86-0719-43D7-BE5C-3911F3A1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30289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3AD5F-92E2-4755-AD0B-D2B1CE076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Crawler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5E24BA-3CCA-45D3-B8D6-EE06685F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90900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Site signals + JSON-LD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F5FEE4-B758-40A8-88D0-C30BDCE9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30289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4A2857-44DE-4D01-B135-42C85337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GitHub PR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0A8ED0-36A2-4271-A6E0-7AA0FBC7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9650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Review-gated deploy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FCE9D8-95B9-489B-BD93-747A792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24350"/>
            <a:ext cx="30289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03E6E9-8796-4A65-8ECA-16B0A04D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95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Repair agent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98C5A9-B991-44C5-861A-B94A04B4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19650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FAQ, comparison, schema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087BDB-1AD3-409E-BE4B-66398FD1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24350"/>
            <a:ext cx="30289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329DC-43F6-43F1-AB98-07C51C79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95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Scoring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581C80-99F8-4591-B03F-07C538AB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19650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9D0E3"/>
                </a:solidFill>
              </a:defRPr>
            </a:pPr>
            <a:r>
              <a:rPr sz="1125" b="0">
                <a:solidFill>
                  <a:srgbClr val="F9D0E3"/>
                </a:solidFill>
              </a:rPr>
              <a:t>Explainable rubric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1B7AD4-21F3-40DD-9CD9-0938DD93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324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BAFE85-4ACF-4C8B-9283-AB7D4133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324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4" name=""/>
          <p:cNvCxnSpPr>
            <a:stCxn xmlns:a="http://schemas.openxmlformats.org/drawingml/2006/main" id="24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3724275" y="333375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7B0E24-F8FE-4194-92F5-A1AEB299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324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540E92-C1CE-40D8-88AF-D4431E62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24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7" name=""/>
          <p:cNvCxnSpPr>
            <a:stCxn xmlns:a="http://schemas.openxmlformats.org/drawingml/2006/main" id="27" idx="1"/>
            <a:endCxn xmlns:a="http://schemas.openxmlformats.org/drawingml/2006/main" id="28" idx="3"/>
          </p:cNvCxnSpPr>
          <p:nvPr/>
        </p:nvCxnSpPr>
        <p:spPr>
          <a:xfrm xmlns:a="http://schemas.openxmlformats.org/drawingml/2006/main" flipH="1">
            <a:off x="7400925" y="333375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64A3C2-5F4E-4B3C-84AC-D41408A8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43148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A6E41F-C3A8-455A-8227-933FEAF6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7623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0" name=""/>
          <p:cNvCxnSpPr>
            <a:stCxn xmlns:a="http://schemas.openxmlformats.org/drawingml/2006/main" id="30" idx="0"/>
            <a:endCxn xmlns:a="http://schemas.openxmlformats.org/drawingml/2006/main" id="31" idx="2"/>
          </p:cNvCxnSpPr>
          <p:nvPr/>
        </p:nvCxnSpPr>
        <p:spPr>
          <a:xfrm xmlns:a="http://schemas.openxmlformats.org/drawingml/2006/main" flipV="1">
            <a:off x="9563100" y="3781425"/>
            <a:ext cx="0" cy="5334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C3AF69-DF7D-45C0-B512-1CAAF2ED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7529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36BA42-3324-43DE-8E53-8A1D41A9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47529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3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7400925" y="47625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7B6FF0-2E7F-4ABF-BEEE-2224954BE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7529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60B519-C4E7-47B9-9AB6-3ECF715D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7529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6" name=""/>
          <p:cNvCxnSpPr>
            <a:stCxn xmlns:a="http://schemas.openxmlformats.org/drawingml/2006/main" id="36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3724275" y="47625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</p:spTree>
    <p:extLst>
      <p:ext uri="{BB962C8B-B14F-4D97-AF65-F5344CB8AC3E}">
        <p14:creationId xmlns:p14="http://schemas.microsoft.com/office/powerpoint/2010/main" val="21472871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008B1F-7730-46BC-B5E7-0B885877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B8A8FB-3208-4262-A421-8AEC831D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BUSINESS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49DB13-B600-4A16-8864-4379E3E7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905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Business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AF16BD-B550-422E-8055-6A68D237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A7A7A"/>
                </a:solidFill>
              </a:defRPr>
            </a:pPr>
            <a:r>
              <a:rPr sz="1500" b="0">
                <a:solidFill>
                  <a:srgbClr val="7A7A7A"/>
                </a:solidFill>
              </a:rPr>
              <a:t>Subscription software for teams already paying for SEO, content, and performance marketing, but lacking AI-answer visibility.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C306B-C738-43AD-9C44-8F873A3C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B5008D-8CB8-4723-B934-177F5A41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28950"/>
            <a:ext cx="3200400" cy="21336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9D0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8725F-48F2-4342-A827-50E0EA37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337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Target audience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183E8F-5FD9-4B79-B662-E00710D4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29050"/>
            <a:ext cx="219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D3D3D"/>
                </a:solidFill>
              </a:defRPr>
            </a:pPr>
            <a:r>
              <a:rPr sz="1650" b="0">
                <a:solidFill>
                  <a:srgbClr val="3D3D3D"/>
                </a:solidFill>
              </a:rPr>
              <a:t>B2B SaaS</a:t>
            </a:r>
          </a:p>
          <a:p xmlns:a="http://schemas.openxmlformats.org/drawingml/2006/main">
            <a:pPr algn="l">
              <a:defRPr sz="1650" b="0">
                <a:solidFill>
                  <a:srgbClr val="3D3D3D"/>
                </a:solidFill>
              </a:defRPr>
            </a:pPr>
            <a:r>
              <a:rPr sz="1650" b="0">
                <a:solidFill>
                  <a:srgbClr val="3D3D3D"/>
                </a:solidFill>
              </a:rPr>
              <a:t>Growth teams</a:t>
            </a:r>
          </a:p>
          <a:p xmlns:a="http://schemas.openxmlformats.org/drawingml/2006/main">
            <a:pPr algn="l">
              <a:defRPr sz="1650" b="0">
                <a:solidFill>
                  <a:srgbClr val="3D3D3D"/>
                </a:solidFill>
              </a:defRPr>
            </a:pPr>
            <a:r>
              <a:rPr sz="1650" b="0">
                <a:solidFill>
                  <a:srgbClr val="3D3D3D"/>
                </a:solidFill>
              </a:rPr>
              <a:t>Content marketers</a:t>
            </a:r>
          </a:p>
          <a:p xmlns:a="http://schemas.openxmlformats.org/drawingml/2006/main">
            <a:pPr algn="l">
              <a:defRPr sz="1650" b="0">
                <a:solidFill>
                  <a:srgbClr val="3D3D3D"/>
                </a:solidFill>
              </a:defRPr>
            </a:pPr>
            <a:r>
              <a:rPr sz="1650" b="0">
                <a:solidFill>
                  <a:srgbClr val="3D3D3D"/>
                </a:solidFill>
              </a:rPr>
              <a:t>Founders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8EAB98-8DCE-4F4F-B01C-B01B5B47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28950"/>
            <a:ext cx="3200400" cy="21336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A75E52-3188-49AE-958A-FB1124AC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333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Pricing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CE5FF0-4FD3-4882-9DFA-DAA1E3E9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848100"/>
            <a:ext cx="228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D3D3D"/>
                </a:solidFill>
              </a:defRPr>
            </a:pPr>
            <a:r>
              <a:rPr sz="1575" b="0">
                <a:solidFill>
                  <a:srgbClr val="3D3D3D"/>
                </a:solidFill>
              </a:rPr>
              <a:t>Monthly subscription</a:t>
            </a:r>
          </a:p>
          <a:p xmlns:a="http://schemas.openxmlformats.org/drawingml/2006/main">
            <a:pPr algn="l">
              <a:defRPr sz="1575" b="0">
                <a:solidFill>
                  <a:srgbClr val="3D3D3D"/>
                </a:solidFill>
              </a:defRPr>
            </a:pPr>
            <a:r>
              <a:rPr sz="1575" b="0">
                <a:solidFill>
                  <a:srgbClr val="3D3D3D"/>
                </a:solidFill>
              </a:rPr>
              <a:t>Usage tiers by domains,</a:t>
            </a:r>
          </a:p>
          <a:p xmlns:a="http://schemas.openxmlformats.org/drawingml/2006/main">
            <a:pPr algn="l">
              <a:defRPr sz="1575" b="0">
                <a:solidFill>
                  <a:srgbClr val="3D3D3D"/>
                </a:solidFill>
              </a:defRPr>
            </a:pPr>
            <a:r>
              <a:rPr sz="1575" b="0">
                <a:solidFill>
                  <a:srgbClr val="3D3D3D"/>
                </a:solidFill>
              </a:rPr>
              <a:t>prompts, and repairs.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286A2E-3163-4B55-B10A-53C7AF38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28950"/>
            <a:ext cx="3200400" cy="21336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11111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400644-04AF-4F1C-9AC0-30CF1890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33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Expansion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FBCA31-677D-4C38-A0DE-4B47CE8A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67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9D0E3"/>
                </a:solidFill>
              </a:defRPr>
            </a:pPr>
            <a:r>
              <a:rPr sz="1575" b="0">
                <a:solidFill>
                  <a:srgbClr val="F9D0E3"/>
                </a:solidFill>
              </a:rPr>
              <a:t>Monitoring</a:t>
            </a:r>
          </a:p>
          <a:p xmlns:a="http://schemas.openxmlformats.org/drawingml/2006/main">
            <a:pPr algn="l">
              <a:defRPr sz="1575" b="0">
                <a:solidFill>
                  <a:srgbClr val="F9D0E3"/>
                </a:solidFill>
              </a:defRPr>
            </a:pPr>
            <a:r>
              <a:rPr sz="1575" b="0">
                <a:solidFill>
                  <a:srgbClr val="F9D0E3"/>
                </a:solidFill>
              </a:rPr>
              <a:t>Team workflows</a:t>
            </a:r>
          </a:p>
          <a:p xmlns:a="http://schemas.openxmlformats.org/drawingml/2006/main">
            <a:pPr algn="l">
              <a:defRPr sz="1575" b="0">
                <a:solidFill>
                  <a:srgbClr val="F9D0E3"/>
                </a:solidFill>
              </a:defRPr>
            </a:pPr>
            <a:r>
              <a:rPr sz="1575" b="0">
                <a:solidFill>
                  <a:srgbClr val="F9D0E3"/>
                </a:solidFill>
              </a:rPr>
              <a:t>CMS/Git integrations</a:t>
            </a:r>
          </a:p>
        </p:txBody>
      </p:sp>
    </p:spTree>
    <p:extLst>
      <p:ext uri="{BB962C8B-B14F-4D97-AF65-F5344CB8AC3E}">
        <p14:creationId xmlns:p14="http://schemas.microsoft.com/office/powerpoint/2010/main" val="2407093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02B781-B318-4930-8C55-D0DFA63A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4D77A6-60EE-4F54-9CB7-935624DD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AB06B-57AE-4833-AF1F-36F3356B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905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Demo: from URL to repair PR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EC787E-4E11-4851-B394-C412A15B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A7A7A"/>
                </a:solidFill>
              </a:defRPr>
            </a:pPr>
            <a:r>
              <a:rPr sz="1500" b="0">
                <a:solidFill>
                  <a:srgbClr val="7A7A7A"/>
                </a:solidFill>
              </a:rPr>
              <a:t>Show the product loop live: analyze a brand, inspect the competitor gap, generate fixes, and open a review-gated PR.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78EA37-C95E-45CF-A38B-7E1E6858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C47D1-B5CE-4A14-83A1-3D01561B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10363200" cy="270510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65BC54-2510-43D7-AD60-36A176FF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90850"/>
            <a:ext cx="97917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889244-1D36-491C-A3D2-70817189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527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A8CB"/>
          </a:solidFill>
          <a:ln xmlns:a="http://schemas.openxmlformats.org/drawingml/2006/main" w="13335">
            <a:solidFill>
              <a:srgbClr val="F4A8C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F63AA8-0EE1-4C4A-AE23-A32DBC4B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527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D0E3"/>
          </a:solidFill>
          <a:ln xmlns:a="http://schemas.openxmlformats.org/drawingml/2006/main" w="13335">
            <a:solidFill>
              <a:srgbClr val="F9D0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0309F7-23B8-4E0A-AD31-DD5DDDCB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1527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8F1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1D0468-04E6-4230-B437-A90E65CB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591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13335">
            <a:solidFill>
              <a:srgbClr val="EEEEE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DC55B-482C-40ED-90DD-565BA705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1623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7A7A"/>
                </a:solidFill>
              </a:defRPr>
            </a:pPr>
            <a:r>
              <a:rPr sz="825" b="0">
                <a:solidFill>
                  <a:srgbClr val="7A7A7A"/>
                </a:solidFill>
              </a:rPr>
              <a:t>ghostfix.app/analyze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6D2EE8-83EC-4C7E-93ED-FC94FE4F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19621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D86339-0E13-41B8-85B5-90E20681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57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11111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EB8374-A748-4C87-95D0-F869F8B0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1052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D221AA-4BE7-469C-835E-87F07D3E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0576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Enter brand URL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6FC483-CB7B-4FB2-A932-F1872BC5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577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GhostFix researches prompts and rivals.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CC608F-F814-41C7-8062-53245316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48100"/>
            <a:ext cx="19621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4A8C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E51B12-B5A3-4176-89A1-89ED854B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57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4D8A"/>
          </a:solidFill>
          <a:ln xmlns:a="http://schemas.openxmlformats.org/drawingml/2006/main" w="13335">
            <a:solidFill>
              <a:srgbClr val="E04D8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E8ED2A-AEFD-476C-90BC-B529E025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052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2D42E5-8DE7-44A8-826A-17E82482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576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Review diagnosis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05078B-9D71-438A-9DDE-AF7A3DD1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577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See why AI cites competitors.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D4B489-2416-4D05-B3E5-FDD439CB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48100"/>
            <a:ext cx="19621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B71DC0-5D51-41B7-9E61-64B8F12A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11111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829853-B7CB-423A-8E3E-EAD4AF98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052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646D83-3D1F-4211-8838-9085CC4B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576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Generate fixes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61DA63-923C-422D-9130-006E3092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577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FAQ, comparison, and schema drafts.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79FE57-F7CE-4672-82BD-3A830153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48100"/>
            <a:ext cx="19621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23A4B6-0620-4146-B788-DAB1E228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57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11111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050A20-1FDE-482D-B318-B726AA42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052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547969-FB52-414B-AA01-172816C7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Open PR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B973EC-B955-453D-8368-9FBCC6F9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577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Approve before anything ships.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289F13-C85E-4116-98A7-5DDDD440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7531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Close: AI visibility is becoming a measurable, repairable workflow.</a:t>
            </a:r>
          </a:p>
        </p:txBody>
      </p:sp>
    </p:spTree>
    <p:extLst>
      <p:ext uri="{BB962C8B-B14F-4D97-AF65-F5344CB8AC3E}">
        <p14:creationId xmlns:p14="http://schemas.microsoft.com/office/powerpoint/2010/main" val="10120073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301C1A-9EED-49C3-BA74-8801AA81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1A1B1-0D83-4E0B-96BC-BF9DF641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RESOURCES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0295F-D2F6-498D-A2DA-97B781E8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905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</a:defRPr>
            </a:pPr>
            <a:r>
              <a:rPr sz="3000" b="1">
                <a:solidFill>
                  <a:srgbClr val="111111"/>
                </a:solidFill>
              </a:rPr>
              <a:t>How this was made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C60D8-4A44-4C6F-A3B3-0BF188AB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723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7A7A7A"/>
                </a:solidFill>
              </a:defRPr>
            </a:pPr>
            <a:r>
              <a:rPr sz="1500" b="0">
                <a:solidFill>
                  <a:srgbClr val="7A7A7A"/>
                </a:solidFill>
              </a:rPr>
              <a:t>GhostFix came together as a lightweight AI-assisted build, with each tool owning a clear part of the stack.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0907CD-F7E1-4C13-929C-E1441C28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5AFB0D-2A63-4668-BEF2-89AA6A6F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28950"/>
            <a:ext cx="4762500" cy="9525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4A8C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474CAD-4F55-4DC0-BE89-A44FD575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194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Codex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53F906-0D7B-4EEF-B0E9-AB87B76C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Built and iterated the app, demo site, deck, and Git workflow.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D46141-494B-45A0-81E9-D024CE0D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28950"/>
            <a:ext cx="4762500" cy="9525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207B32-BCD4-40B6-BA26-88F52DF8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194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Claude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869324-5023-4A36-B5E0-D7739DF5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814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9D0E3"/>
                </a:solidFill>
              </a:defRPr>
            </a:pPr>
            <a:r>
              <a:rPr sz="1125" b="0">
                <a:solidFill>
                  <a:srgbClr val="F9D0E3"/>
                </a:solidFill>
              </a:rPr>
              <a:t>Generated repair drafts and content strategy outputs.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03616-AE0A-4055-BE58-4585BA18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24350"/>
            <a:ext cx="4762500" cy="9525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9D901A-DF09-448C-A0B6-5E5EA499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Supabase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E4706E-8CBF-43CC-96A2-A7F7156E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768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Stores analysis results, score breakdowns, and generated fixes.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99738E-1E7F-439F-AEBB-DC02D100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24350"/>
            <a:ext cx="4762500" cy="9525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57EE1B-916C-41FD-A078-AD99A53F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Kiro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CCAD91-CBD0-4DC6-ADF4-4E2B499C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768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Used for planning, product shaping, and implementation support.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D2AF90-92AB-412B-8DBA-CBFFFA3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62600"/>
            <a:ext cx="18669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4D8A"/>
          </a:solidFill>
          <a:ln xmlns:a="http://schemas.openxmlformats.org/drawingml/2006/main" w="13335">
            <a:solidFill>
              <a:srgbClr val="E04D8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55D738-E333-4DBC-8A46-074CD388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10225"/>
            <a:ext cx="1866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AI + INFRA +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007B67-B696-4DAD-8B47-80176BCD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6007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3D3D"/>
                </a:solidFill>
              </a:defRPr>
            </a:pPr>
            <a:r>
              <a:rPr sz="1425" b="1">
                <a:solidFill>
                  <a:srgbClr val="3D3D3D"/>
                </a:solidFill>
              </a:rPr>
              <a:t>The goal: ship a review-gated workflow for AI visibility, not another static SEO report.</a:t>
            </a:r>
          </a:p>
        </p:txBody>
      </p:sp>
    </p:spTree>
    <p:extLst>
      <p:ext uri="{BB962C8B-B14F-4D97-AF65-F5344CB8AC3E}">
        <p14:creationId xmlns:p14="http://schemas.microsoft.com/office/powerpoint/2010/main" val="8659066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2026-06-27T08:17:32.4480000Z</dcterms:created>
  <dcterms:modified xsi:type="dcterms:W3CDTF">2026-06-27T08:17:32.4480000Z</dcterms:modified>
</coreProperties>
</file>